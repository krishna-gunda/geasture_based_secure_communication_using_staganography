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4030" r:id="rId1"/>
  </p:sldMasterIdLst>
  <p:notesMasterIdLst>
    <p:notesMasterId r:id="rId18"/>
  </p:notesMasterIdLst>
  <p:sldIdLst>
    <p:sldId id="256" r:id="rId2"/>
    <p:sldId id="257" r:id="rId3"/>
    <p:sldId id="258" r:id="rId4"/>
    <p:sldId id="259" r:id="rId5"/>
    <p:sldId id="269" r:id="rId6"/>
    <p:sldId id="271" r:id="rId7"/>
    <p:sldId id="273" r:id="rId8"/>
    <p:sldId id="260" r:id="rId9"/>
    <p:sldId id="261" r:id="rId10"/>
    <p:sldId id="262" r:id="rId11"/>
    <p:sldId id="263" r:id="rId12"/>
    <p:sldId id="275" r:id="rId13"/>
    <p:sldId id="264" r:id="rId14"/>
    <p:sldId id="265" r:id="rId15"/>
    <p:sldId id="268" r:id="rId16"/>
    <p:sldId id="267" r:id="rId17"/>
  </p:sldIdLst>
  <p:sldSz cx="18288000" cy="10287000"/>
  <p:notesSz cx="6858000" cy="9144000"/>
  <p:embeddedFontLst>
    <p:embeddedFont>
      <p:font typeface="Open Sauce" panose="020B0604020202020204" charset="0"/>
      <p:regular r:id="rId19"/>
    </p:embeddedFont>
    <p:embeddedFont>
      <p:font typeface="Wingdings 3" panose="05040102010807070707" pitchFamily="18" charset="2"/>
      <p:regular r:id="rId20"/>
    </p:embeddedFont>
    <p:embeddedFont>
      <p:font typeface="Trebuchet MS" panose="020B0603020202020204" pitchFamily="34" charset="0"/>
      <p:regular r:id="rId21"/>
      <p:bold r:id="rId22"/>
      <p:italic r:id="rId23"/>
      <p:boldItalic r:id="rId24"/>
    </p:embeddedFont>
    <p:embeddedFont>
      <p:font typeface="Calibri" panose="020F0502020204030204" pitchFamily="34" charset="0"/>
      <p:regular r:id="rId25"/>
      <p:bold r:id="rId26"/>
      <p:italic r:id="rId27"/>
      <p:boldItalic r:id="rId28"/>
    </p:embeddedFont>
    <p:embeddedFont>
      <p:font typeface="DM Serif Display" panose="020B0604020202020204" charset="0"/>
      <p:regular r:id="rId2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autoAdjust="0"/>
    <p:restoredTop sz="94622" autoAdjust="0"/>
  </p:normalViewPr>
  <p:slideViewPr>
    <p:cSldViewPr>
      <p:cViewPr varScale="1">
        <p:scale>
          <a:sx n="46" d="100"/>
          <a:sy n="46" d="100"/>
        </p:scale>
        <p:origin x="750"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33F1F6-7DD7-4677-A569-9062EC62F441}" type="datetimeFigureOut">
              <a:rPr lang="en-IN" smtClean="0"/>
              <a:t>06-02-2026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CFBF6C-4C91-4A9E-8A7F-BFD729182BFD}" type="slidenum">
              <a:rPr lang="en-IN" smtClean="0"/>
              <a:t>‹#›</a:t>
            </a:fld>
            <a:endParaRPr lang="en-IN"/>
          </a:p>
        </p:txBody>
      </p:sp>
    </p:spTree>
    <p:extLst>
      <p:ext uri="{BB962C8B-B14F-4D97-AF65-F5344CB8AC3E}">
        <p14:creationId xmlns:p14="http://schemas.microsoft.com/office/powerpoint/2010/main" val="265668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12700"/>
            <a:ext cx="18288000" cy="10299701"/>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2260601" y="3606801"/>
            <a:ext cx="11650404" cy="2469453"/>
          </a:xfrm>
        </p:spPr>
        <p:txBody>
          <a:bodyPr anchor="b">
            <a:noAutofit/>
          </a:bodyPr>
          <a:lstStyle>
            <a:lvl1pPr algn="r">
              <a:defRPr sz="81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260601" y="6076250"/>
            <a:ext cx="11650404" cy="1645349"/>
          </a:xfrm>
        </p:spPr>
        <p:txBody>
          <a:bodyPr anchor="t"/>
          <a:lstStyle>
            <a:lvl1pPr marL="0" indent="0" algn="r">
              <a:buNone/>
              <a:defRPr>
                <a:solidFill>
                  <a:schemeClr val="tx1">
                    <a:lumMod val="50000"/>
                    <a:lumOff val="5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76272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9831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6003" y="4051301"/>
            <a:ext cx="12895002" cy="2739872"/>
          </a:xfrm>
        </p:spPr>
        <p:txBody>
          <a:bodyPr anchor="b"/>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1290600"/>
          </a:xfrm>
        </p:spPr>
        <p:txBody>
          <a:bodyPr anchor="t"/>
          <a:lstStyle>
            <a:lvl1pPr marL="0" indent="0" algn="l">
              <a:buNone/>
              <a:defRPr sz="30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38862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16002" y="3240884"/>
            <a:ext cx="6276053" cy="58211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34955" y="3240884"/>
            <a:ext cx="6276051" cy="5821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58774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13618" y="3241475"/>
            <a:ext cx="6278435"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013618" y="4105868"/>
            <a:ext cx="6278435"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32575" y="3241475"/>
            <a:ext cx="6278427"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7632577" y="4105868"/>
            <a:ext cx="6278426"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0689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16001" y="914400"/>
            <a:ext cx="12895002" cy="19812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39982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5955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1" y="2247906"/>
            <a:ext cx="5781792" cy="1917699"/>
          </a:xfrm>
        </p:spPr>
        <p:txBody>
          <a:bodyPr anchor="b">
            <a:normAutofit/>
          </a:bodyPr>
          <a:lstStyle>
            <a:lvl1pPr>
              <a:defRPr sz="3000"/>
            </a:lvl1pPr>
          </a:lstStyle>
          <a:p>
            <a:r>
              <a:rPr lang="en-US"/>
              <a:t>Click to edit Master title style</a:t>
            </a:r>
            <a:endParaRPr lang="en-US" dirty="0"/>
          </a:p>
        </p:txBody>
      </p:sp>
      <p:sp>
        <p:nvSpPr>
          <p:cNvPr id="3" name="Content Placeholder 2"/>
          <p:cNvSpPr>
            <a:spLocks noGrp="1"/>
          </p:cNvSpPr>
          <p:nvPr>
            <p:ph idx="1"/>
          </p:nvPr>
        </p:nvSpPr>
        <p:spPr>
          <a:xfrm>
            <a:off x="7140692" y="772387"/>
            <a:ext cx="6770312" cy="828965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16001" y="4165604"/>
            <a:ext cx="5781792" cy="3876674"/>
          </a:xfrm>
        </p:spPr>
        <p:txBody>
          <a:bodyPr>
            <a:normAutofit/>
          </a:bodyPr>
          <a:lstStyle>
            <a:lvl1pPr marL="0" indent="0">
              <a:buNone/>
              <a:defRPr sz="2100"/>
            </a:lvl1pPr>
            <a:lvl2pPr marL="685595" indent="0">
              <a:buNone/>
              <a:defRPr sz="2100"/>
            </a:lvl2pPr>
            <a:lvl3pPr marL="1371189" indent="0">
              <a:buNone/>
              <a:defRPr sz="1800"/>
            </a:lvl3pPr>
            <a:lvl4pPr marL="2056784" indent="0">
              <a:buNone/>
              <a:defRPr sz="1500"/>
            </a:lvl4pPr>
            <a:lvl5pPr marL="2742377" indent="0">
              <a:buNone/>
              <a:defRPr sz="1500"/>
            </a:lvl5pPr>
            <a:lvl6pPr marL="3427971" indent="0">
              <a:buNone/>
              <a:defRPr sz="1500"/>
            </a:lvl6pPr>
            <a:lvl7pPr marL="4113566" indent="0">
              <a:buNone/>
              <a:defRPr sz="1500"/>
            </a:lvl7pPr>
            <a:lvl8pPr marL="4799160" indent="0">
              <a:buNone/>
              <a:defRPr sz="1500"/>
            </a:lvl8pPr>
            <a:lvl9pPr marL="5484755"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71569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2" y="7200900"/>
            <a:ext cx="12895001" cy="85010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16001" y="914400"/>
            <a:ext cx="12895002" cy="5768577"/>
          </a:xfrm>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16002" y="8051007"/>
            <a:ext cx="12895001" cy="1011036"/>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7212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3" y="914400"/>
            <a:ext cx="12895002" cy="5105400"/>
          </a:xfrm>
        </p:spPr>
        <p:txBody>
          <a:bodyPr anchor="ctr">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1905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2049209" y="5448300"/>
            <a:ext cx="10836786" cy="571500"/>
          </a:xfrm>
        </p:spPr>
        <p:txBody>
          <a:bodyPr anchor="ctr">
            <a:noAutofit/>
          </a:bodyPr>
          <a:lstStyle>
            <a:lvl1pPr marL="0" indent="0">
              <a:buFontTx/>
              <a:buNone/>
              <a:defRPr sz="2400">
                <a:solidFill>
                  <a:schemeClr val="tx1">
                    <a:lumMod val="50000"/>
                    <a:lumOff val="50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0" name="TextBox 19"/>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latin typeface="Arial"/>
              </a:rPr>
              <a:t>”</a:t>
            </a:r>
            <a:endParaRPr lang="en-US" sz="2700" dirty="0">
              <a:solidFill>
                <a:schemeClr val="accent1">
                  <a:lumMod val="60000"/>
                  <a:lumOff val="40000"/>
                </a:schemeClr>
              </a:solidFill>
              <a:latin typeface="Arial"/>
            </a:endParaRPr>
          </a:p>
        </p:txBody>
      </p:sp>
    </p:spTree>
    <p:extLst>
      <p:ext uri="{BB962C8B-B14F-4D97-AF65-F5344CB8AC3E}">
        <p14:creationId xmlns:p14="http://schemas.microsoft.com/office/powerpoint/2010/main" val="1848342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016003" y="2897982"/>
            <a:ext cx="12895002" cy="3893190"/>
          </a:xfrm>
        </p:spPr>
        <p:txBody>
          <a:bodyPr anchor="b">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317522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tx1">
                    <a:lumMod val="75000"/>
                    <a:lumOff val="25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485610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028699" y="914400"/>
            <a:ext cx="12882305"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accent1"/>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767997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06378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951510" y="914399"/>
            <a:ext cx="1957115" cy="787717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016003" y="914400"/>
            <a:ext cx="10590225" cy="78771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93042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0" y="-12700"/>
            <a:ext cx="18288000" cy="10299701"/>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1016001" y="914400"/>
            <a:ext cx="12895002" cy="19812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16001" y="3240884"/>
            <a:ext cx="12895002" cy="5821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807700" y="9062044"/>
            <a:ext cx="1367909" cy="547688"/>
          </a:xfrm>
          <a:prstGeom prst="rect">
            <a:avLst/>
          </a:prstGeom>
        </p:spPr>
        <p:txBody>
          <a:bodyPr vert="horz" lIns="91440" tIns="45720" rIns="91440" bIns="45720" rtlCol="0" anchor="ctr"/>
          <a:lstStyle>
            <a:lvl1pPr algn="r">
              <a:defRPr sz="1350">
                <a:solidFill>
                  <a:schemeClr val="tx1">
                    <a:tint val="75000"/>
                  </a:schemeClr>
                </a:solidFill>
              </a:defRPr>
            </a:lvl1pPr>
          </a:lstStyle>
          <a:p>
            <a:fld id="{1D8BD707-D9CF-40AE-B4C6-C98DA3205C09}" type="datetimeFigureOut">
              <a:rPr lang="en-US" smtClean="0"/>
              <a:pPr/>
              <a:t>2/6/2026</a:t>
            </a:fld>
            <a:endParaRPr lang="en-US"/>
          </a:p>
        </p:txBody>
      </p:sp>
      <p:sp>
        <p:nvSpPr>
          <p:cNvPr id="5" name="Footer Placeholder 4"/>
          <p:cNvSpPr>
            <a:spLocks noGrp="1"/>
          </p:cNvSpPr>
          <p:nvPr>
            <p:ph type="ftr" sz="quarter" idx="3"/>
          </p:nvPr>
        </p:nvSpPr>
        <p:spPr>
          <a:xfrm>
            <a:off x="1016001" y="9062044"/>
            <a:ext cx="9446418" cy="547688"/>
          </a:xfrm>
          <a:prstGeom prst="rect">
            <a:avLst/>
          </a:prstGeom>
        </p:spPr>
        <p:txBody>
          <a:bodyPr vert="horz" lIns="91440" tIns="45720" rIns="91440" bIns="45720" rtlCol="0" anchor="ctr"/>
          <a:lstStyle>
            <a:lvl1pPr algn="l">
              <a:defRPr sz="13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885995" y="9062044"/>
            <a:ext cx="1025009" cy="547688"/>
          </a:xfrm>
          <a:prstGeom prst="rect">
            <a:avLst/>
          </a:prstGeom>
        </p:spPr>
        <p:txBody>
          <a:bodyPr vert="horz" lIns="91440" tIns="45720" rIns="91440" bIns="45720" rtlCol="0" anchor="ctr"/>
          <a:lstStyle>
            <a:lvl1pPr algn="r">
              <a:defRPr sz="135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29917363"/>
      </p:ext>
    </p:extLst>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 id="2147484042" r:id="rId12"/>
    <p:sldLayoutId id="2147484043" r:id="rId13"/>
    <p:sldLayoutId id="2147484044" r:id="rId14"/>
    <p:sldLayoutId id="2147484045" r:id="rId15"/>
    <p:sldLayoutId id="2147484046" r:id="rId16"/>
  </p:sldLayoutIdLst>
  <p:txStyles>
    <p:titleStyle>
      <a:lvl1pPr algn="l" defTabSz="6858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SzPct val="80000"/>
        <a:buFont typeface="Wingdings 3" charset="2"/>
        <a:buChar char=""/>
        <a:defRPr sz="2700" kern="1200">
          <a:solidFill>
            <a:schemeClr val="tx1">
              <a:lumMod val="75000"/>
              <a:lumOff val="25000"/>
            </a:schemeClr>
          </a:solidFill>
          <a:latin typeface="+mn-lt"/>
          <a:ea typeface="+mn-ea"/>
          <a:cs typeface="+mn-cs"/>
        </a:defRPr>
      </a:lvl1pPr>
      <a:lvl2pPr marL="1114425" indent="-428625" algn="l" defTabSz="685800" rtl="0" eaLnBrk="1" latinLnBrk="0" hangingPunct="1">
        <a:spcBef>
          <a:spcPts val="15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2pPr>
      <a:lvl3pPr marL="1714500" indent="-342900" algn="l" defTabSz="685800" rtl="0" eaLnBrk="1" latinLnBrk="0" hangingPunct="1">
        <a:spcBef>
          <a:spcPts val="1500"/>
        </a:spcBef>
        <a:spcAft>
          <a:spcPts val="0"/>
        </a:spcAft>
        <a:buClr>
          <a:schemeClr val="accent1"/>
        </a:buClr>
        <a:buSzPct val="80000"/>
        <a:buFont typeface="Wingdings 3" charset="2"/>
        <a:buChar char=""/>
        <a:defRPr sz="2100" kern="1200">
          <a:solidFill>
            <a:schemeClr val="tx1">
              <a:lumMod val="75000"/>
              <a:lumOff val="25000"/>
            </a:schemeClr>
          </a:solidFill>
          <a:latin typeface="+mn-lt"/>
          <a:ea typeface="+mn-ea"/>
          <a:cs typeface="+mn-cs"/>
        </a:defRPr>
      </a:lvl3pPr>
      <a:lvl4pPr marL="2400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4pPr>
      <a:lvl5pPr marL="30861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5pPr>
      <a:lvl6pPr marL="37719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6pPr>
      <a:lvl7pPr marL="44577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7pPr>
      <a:lvl8pPr marL="51435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8pPr>
      <a:lvl9pPr marL="5829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295400" y="1995556"/>
            <a:ext cx="18288000" cy="2105128"/>
          </a:xfrm>
          <a:prstGeom prst="rect">
            <a:avLst/>
          </a:prstGeom>
        </p:spPr>
        <p:txBody>
          <a:bodyPr wrap="square" lIns="0" tIns="0" rIns="0" bIns="0" rtlCol="0" anchor="t">
            <a:spAutoFit/>
          </a:bodyPr>
          <a:lstStyle/>
          <a:p>
            <a:pPr algn="ctr">
              <a:lnSpc>
                <a:spcPts val="20160"/>
              </a:lnSpc>
            </a:pPr>
            <a:r>
              <a:rPr lang="en-US" sz="5400" b="1" dirty="0">
                <a:solidFill>
                  <a:srgbClr val="000000"/>
                </a:solidFill>
                <a:latin typeface="Times New Roman" panose="02020603050405020304" pitchFamily="18" charset="0"/>
                <a:ea typeface="DM Serif Display"/>
                <a:cs typeface="Times New Roman" panose="02020603050405020304" pitchFamily="18" charset="0"/>
                <a:sym typeface="DM Serif Display"/>
              </a:rPr>
              <a:t>Gesture Based Communication Using </a:t>
            </a:r>
            <a:r>
              <a:rPr lang="en-US" sz="5400" b="1" dirty="0">
                <a:latin typeface="Times New Roman" panose="02020603050405020304" pitchFamily="18" charset="0"/>
                <a:cs typeface="Times New Roman" panose="02020603050405020304" pitchFamily="18" charset="0"/>
              </a:rPr>
              <a:t>Steganography</a:t>
            </a:r>
            <a:endParaRPr lang="en-US" sz="5400" b="1" dirty="0">
              <a:solidFill>
                <a:srgbClr val="000000"/>
              </a:solidFill>
              <a:latin typeface="Times New Roman" panose="02020603050405020304" pitchFamily="18" charset="0"/>
              <a:ea typeface="DM Serif Display"/>
              <a:cs typeface="Times New Roman" panose="02020603050405020304" pitchFamily="18" charset="0"/>
              <a:sym typeface="DM Serif Display"/>
            </a:endParaRPr>
          </a:p>
        </p:txBody>
      </p:sp>
      <p:pic>
        <p:nvPicPr>
          <p:cNvPr id="6" name="Picture 5">
            <a:extLst>
              <a:ext uri="{FF2B5EF4-FFF2-40B4-BE49-F238E27FC236}">
                <a16:creationId xmlns:a16="http://schemas.microsoft.com/office/drawing/2014/main" id="{61B39016-1E7A-5351-A6F7-226E373C564C}"/>
              </a:ext>
            </a:extLst>
          </p:cNvPr>
          <p:cNvPicPr>
            <a:picLocks noChangeAspect="1"/>
          </p:cNvPicPr>
          <p:nvPr/>
        </p:nvPicPr>
        <p:blipFill>
          <a:blip r:embed="rId2"/>
          <a:stretch>
            <a:fillRect/>
          </a:stretch>
        </p:blipFill>
        <p:spPr>
          <a:xfrm>
            <a:off x="304800" y="683642"/>
            <a:ext cx="3796145" cy="1796294"/>
          </a:xfrm>
          <a:prstGeom prst="rect">
            <a:avLst/>
          </a:prstGeom>
        </p:spPr>
      </p:pic>
      <p:sp>
        <p:nvSpPr>
          <p:cNvPr id="7" name="Title 1">
            <a:extLst>
              <a:ext uri="{FF2B5EF4-FFF2-40B4-BE49-F238E27FC236}">
                <a16:creationId xmlns:a16="http://schemas.microsoft.com/office/drawing/2014/main" id="{410C30D0-93CB-A10E-F6E5-337A0A6FFADF}"/>
              </a:ext>
            </a:extLst>
          </p:cNvPr>
          <p:cNvSpPr txBox="1">
            <a:spLocks/>
          </p:cNvSpPr>
          <p:nvPr/>
        </p:nvSpPr>
        <p:spPr>
          <a:xfrm>
            <a:off x="2514600" y="492815"/>
            <a:ext cx="13258800" cy="1953844"/>
          </a:xfrm>
          <a:prstGeom prst="rect">
            <a:avLst/>
          </a:prstGeom>
        </p:spPr>
        <p:txBody>
          <a:bodyPr vert="horz" lIns="91440" tIns="45720" rIns="91440" bIns="45720" rtlCol="0" anchor="b">
            <a:norm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pPr algn="ctr"/>
            <a:r>
              <a:rPr lang="en-US" sz="3600" dirty="0">
                <a:latin typeface="Times New Roman" panose="02020603050405020304" pitchFamily="18" charset="0"/>
                <a:cs typeface="Times New Roman" panose="02020603050405020304" pitchFamily="18" charset="0"/>
              </a:rPr>
              <a:t>JOGINPALLY.B.R ENGINEERING COLLEGE</a:t>
            </a:r>
            <a:br>
              <a:rPr lang="en-US" sz="36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DEPARTMENT OF COMPUTER SCIENCE ENGINEERING</a:t>
            </a:r>
          </a:p>
          <a:p>
            <a:pPr algn="ctr"/>
            <a:endParaRPr lang="en-US"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C452D89-A8EC-FB53-321C-8AF76696D84D}"/>
              </a:ext>
            </a:extLst>
          </p:cNvPr>
          <p:cNvSpPr txBox="1"/>
          <p:nvPr/>
        </p:nvSpPr>
        <p:spPr>
          <a:xfrm>
            <a:off x="876300" y="6228619"/>
            <a:ext cx="6019800" cy="2127505"/>
          </a:xfrm>
          <a:prstGeom prst="rect">
            <a:avLst/>
          </a:prstGeom>
          <a:noFill/>
        </p:spPr>
        <p:txBody>
          <a:bodyPr wrap="square" rtlCol="0">
            <a:spAutoFit/>
          </a:bodyPr>
          <a:lstStyle/>
          <a:p>
            <a:pPr algn="ctr">
              <a:lnSpc>
                <a:spcPct val="150000"/>
              </a:lnSpc>
            </a:pPr>
            <a:r>
              <a:rPr lang="en-IN" sz="2800" b="1" dirty="0">
                <a:solidFill>
                  <a:schemeClr val="tx1">
                    <a:lumMod val="95000"/>
                    <a:lumOff val="5000"/>
                  </a:schemeClr>
                </a:solidFill>
                <a:latin typeface="Times New Roman" panose="02020603050405020304" pitchFamily="18" charset="0"/>
                <a:cs typeface="Times New Roman" panose="02020603050405020304" pitchFamily="18" charset="0"/>
              </a:rPr>
              <a:t>UNDER THE GUIDANCE</a:t>
            </a:r>
          </a:p>
          <a:p>
            <a:pPr algn="ctr">
              <a:lnSpc>
                <a:spcPct val="150000"/>
              </a:lnSpc>
            </a:pPr>
            <a:r>
              <a:rPr lang="en-US" sz="3200" dirty="0">
                <a:solidFill>
                  <a:schemeClr val="tx1">
                    <a:lumMod val="95000"/>
                    <a:lumOff val="5000"/>
                  </a:schemeClr>
                </a:solidFill>
                <a:latin typeface="Times New Roman" panose="02020603050405020304" pitchFamily="18" charset="0"/>
                <a:cs typeface="Times New Roman" panose="02020603050405020304" pitchFamily="18" charset="0"/>
              </a:rPr>
              <a:t>MR. G.SANTHOSH KUMAR</a:t>
            </a:r>
            <a:endParaRPr lang="en-IN" sz="32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lnSpc>
                <a:spcPct val="150000"/>
              </a:lnSpc>
            </a:pPr>
            <a:r>
              <a:rPr lang="en-IN" sz="3200" dirty="0">
                <a:solidFill>
                  <a:schemeClr val="tx1">
                    <a:lumMod val="95000"/>
                    <a:lumOff val="5000"/>
                  </a:schemeClr>
                </a:solidFill>
                <a:latin typeface="Times New Roman" panose="02020603050405020304" pitchFamily="18" charset="0"/>
                <a:cs typeface="Times New Roman" panose="02020603050405020304" pitchFamily="18" charset="0"/>
              </a:rPr>
              <a:t>ASSISTANT.PROFESSOR</a:t>
            </a:r>
          </a:p>
        </p:txBody>
      </p:sp>
      <p:sp>
        <p:nvSpPr>
          <p:cNvPr id="9" name="TextBox 8">
            <a:extLst>
              <a:ext uri="{FF2B5EF4-FFF2-40B4-BE49-F238E27FC236}">
                <a16:creationId xmlns:a16="http://schemas.microsoft.com/office/drawing/2014/main" id="{830983A5-C6B5-999F-2362-DE883054254D}"/>
              </a:ext>
            </a:extLst>
          </p:cNvPr>
          <p:cNvSpPr txBox="1"/>
          <p:nvPr/>
        </p:nvSpPr>
        <p:spPr>
          <a:xfrm>
            <a:off x="9982200" y="6025485"/>
            <a:ext cx="6019800" cy="2600199"/>
          </a:xfrm>
          <a:prstGeom prst="rect">
            <a:avLst/>
          </a:prstGeom>
          <a:noFill/>
        </p:spPr>
        <p:txBody>
          <a:bodyPr wrap="square" rtlCol="0">
            <a:spAutoFit/>
          </a:bodyPr>
          <a:lstStyle/>
          <a:p>
            <a:pPr>
              <a:lnSpc>
                <a:spcPct val="150000"/>
              </a:lnSpc>
            </a:pPr>
            <a:r>
              <a:rPr lang="en-IN" sz="2800" b="1" dirty="0">
                <a:latin typeface="Times New Roman" panose="02020603050405020304" pitchFamily="18" charset="0"/>
                <a:cs typeface="Times New Roman" panose="02020603050405020304" pitchFamily="18" charset="0"/>
              </a:rPr>
              <a:t>PRESENTED BY</a:t>
            </a:r>
            <a:r>
              <a:rPr lang="en-IN" sz="2800" b="1" u="sng" dirty="0">
                <a:latin typeface="Times New Roman" panose="02020603050405020304" pitchFamily="18" charset="0"/>
                <a:cs typeface="Times New Roman" panose="02020603050405020304" pitchFamily="18" charset="0"/>
              </a:rPr>
              <a:t> </a:t>
            </a:r>
          </a:p>
          <a:p>
            <a:pPr>
              <a:lnSpc>
                <a:spcPct val="150000"/>
              </a:lnSpc>
            </a:pPr>
            <a:r>
              <a:rPr lang="en-IN" sz="2800" dirty="0">
                <a:latin typeface="Times New Roman" panose="02020603050405020304" pitchFamily="18" charset="0"/>
                <a:cs typeface="Times New Roman" panose="02020603050405020304" pitchFamily="18" charset="0"/>
              </a:rPr>
              <a:t>G.KRISHNA (22J21A6620)</a:t>
            </a:r>
          </a:p>
          <a:p>
            <a:pPr>
              <a:lnSpc>
                <a:spcPct val="150000"/>
              </a:lnSpc>
            </a:pPr>
            <a:r>
              <a:rPr lang="en-IN" sz="2800" dirty="0">
                <a:latin typeface="Times New Roman" panose="02020603050405020304" pitchFamily="18" charset="0"/>
                <a:cs typeface="Times New Roman" panose="02020603050405020304" pitchFamily="18" charset="0"/>
              </a:rPr>
              <a:t>A.MAHESH KRISHNA(22J21A6602)</a:t>
            </a:r>
          </a:p>
          <a:p>
            <a:pPr>
              <a:lnSpc>
                <a:spcPct val="150000"/>
              </a:lnSpc>
            </a:pPr>
            <a:r>
              <a:rPr lang="en-IN" sz="2800" dirty="0">
                <a:latin typeface="Times New Roman" panose="02020603050405020304" pitchFamily="18" charset="0"/>
                <a:cs typeface="Times New Roman" panose="02020603050405020304" pitchFamily="18" charset="0"/>
              </a:rPr>
              <a:t>D.MADHU(22J21A6616</a:t>
            </a:r>
            <a:r>
              <a:rPr lang="en-IN" sz="2800" u="sng"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551998" y="266700"/>
            <a:ext cx="6910801" cy="1154162"/>
          </a:xfrm>
          <a:prstGeom prst="rect">
            <a:avLst/>
          </a:prstGeom>
        </p:spPr>
        <p:txBody>
          <a:bodyPr wrap="square" lIns="0" tIns="0" rIns="0" bIns="0" rtlCol="0" anchor="t">
            <a:spAutoFit/>
          </a:bodyPr>
          <a:lstStyle/>
          <a:p>
            <a:pPr algn="l">
              <a:lnSpc>
                <a:spcPts val="8959"/>
              </a:lnSpc>
            </a:pPr>
            <a:r>
              <a:rPr lang="en-US" sz="6399" dirty="0">
                <a:solidFill>
                  <a:srgbClr val="000000"/>
                </a:solidFill>
                <a:latin typeface="DM Serif Display"/>
                <a:ea typeface="DM Serif Display"/>
                <a:cs typeface="DM Serif Display"/>
                <a:sym typeface="DM Serif Display"/>
              </a:rPr>
              <a:t>Table of Contents</a:t>
            </a:r>
          </a:p>
        </p:txBody>
      </p:sp>
      <p:sp>
        <p:nvSpPr>
          <p:cNvPr id="28" name="TextBox 27"/>
          <p:cNvSpPr txBox="1"/>
          <p:nvPr/>
        </p:nvSpPr>
        <p:spPr>
          <a:xfrm>
            <a:off x="1143001" y="1714500"/>
            <a:ext cx="9319798" cy="7478970"/>
          </a:xfrm>
          <a:prstGeom prst="rect">
            <a:avLst/>
          </a:prstGeom>
          <a:noFill/>
        </p:spPr>
        <p:txBody>
          <a:bodyPr wrap="square" rtlCol="0">
            <a:spAutoFit/>
          </a:bodyPr>
          <a:lstStyle/>
          <a:p>
            <a:r>
              <a:rPr lang="en-US" sz="6000" dirty="0">
                <a:latin typeface="Times New Roman" panose="02020603050405020304" pitchFamily="18" charset="0"/>
                <a:cs typeface="Times New Roman" panose="02020603050405020304" pitchFamily="18" charset="0"/>
              </a:rPr>
              <a:t>1.Abstract</a:t>
            </a:r>
          </a:p>
          <a:p>
            <a:r>
              <a:rPr lang="en-US" sz="6000" dirty="0">
                <a:latin typeface="Times New Roman" panose="02020603050405020304" pitchFamily="18" charset="0"/>
                <a:cs typeface="Times New Roman" panose="02020603050405020304" pitchFamily="18" charset="0"/>
              </a:rPr>
              <a:t>2.Title Justification</a:t>
            </a:r>
          </a:p>
          <a:p>
            <a:r>
              <a:rPr lang="en-US" sz="6000" dirty="0">
                <a:latin typeface="Times New Roman" panose="02020603050405020304" pitchFamily="18" charset="0"/>
                <a:cs typeface="Times New Roman" panose="02020603050405020304" pitchFamily="18" charset="0"/>
              </a:rPr>
              <a:t>3.Existing system</a:t>
            </a:r>
          </a:p>
          <a:p>
            <a:r>
              <a:rPr lang="en-US" sz="6000" dirty="0">
                <a:latin typeface="Times New Roman" panose="02020603050405020304" pitchFamily="18" charset="0"/>
                <a:cs typeface="Times New Roman" panose="02020603050405020304" pitchFamily="18" charset="0"/>
              </a:rPr>
              <a:t>4.Limitations</a:t>
            </a:r>
          </a:p>
          <a:p>
            <a:r>
              <a:rPr lang="en-US" sz="6000" dirty="0">
                <a:latin typeface="Times New Roman" panose="02020603050405020304" pitchFamily="18" charset="0"/>
                <a:cs typeface="Times New Roman" panose="02020603050405020304" pitchFamily="18" charset="0"/>
              </a:rPr>
              <a:t>5.Proposed system</a:t>
            </a:r>
          </a:p>
          <a:p>
            <a:r>
              <a:rPr lang="en-US" sz="6000" dirty="0">
                <a:latin typeface="Times New Roman" panose="02020603050405020304" pitchFamily="18" charset="0"/>
                <a:cs typeface="Times New Roman" panose="02020603050405020304" pitchFamily="18" charset="0"/>
              </a:rPr>
              <a:t>6.Advantages</a:t>
            </a:r>
          </a:p>
          <a:p>
            <a:r>
              <a:rPr lang="en-US" sz="6000" dirty="0">
                <a:latin typeface="Times New Roman" panose="02020603050405020304" pitchFamily="18" charset="0"/>
                <a:cs typeface="Times New Roman" panose="02020603050405020304" pitchFamily="18" charset="0"/>
              </a:rPr>
              <a:t>7.Software requirements</a:t>
            </a:r>
          </a:p>
          <a:p>
            <a:r>
              <a:rPr lang="en-US" sz="6000" dirty="0">
                <a:latin typeface="Times New Roman" panose="02020603050405020304" pitchFamily="18" charset="0"/>
                <a:cs typeface="Times New Roman" panose="02020603050405020304" pitchFamily="18" charset="0"/>
              </a:rPr>
              <a:t>8.Hardware requirements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8"/>
          <p:cNvSpPr txBox="1"/>
          <p:nvPr/>
        </p:nvSpPr>
        <p:spPr>
          <a:xfrm>
            <a:off x="5791200" y="190500"/>
            <a:ext cx="4414067" cy="1106200"/>
          </a:xfrm>
          <a:prstGeom prst="rect">
            <a:avLst/>
          </a:prstGeom>
        </p:spPr>
        <p:txBody>
          <a:bodyPr wrap="square" lIns="0" tIns="0" rIns="0" bIns="0" rtlCol="0" anchor="t">
            <a:spAutoFit/>
          </a:bodyPr>
          <a:lstStyle/>
          <a:p>
            <a:pPr algn="l">
              <a:lnSpc>
                <a:spcPts val="8959"/>
              </a:lnSpc>
            </a:pPr>
            <a:r>
              <a:rPr lang="en-US" sz="6399" dirty="0">
                <a:solidFill>
                  <a:srgbClr val="000000"/>
                </a:solidFill>
                <a:latin typeface="DM Serif Display"/>
                <a:ea typeface="DM Serif Display"/>
                <a:cs typeface="DM Serif Display"/>
                <a:sym typeface="DM Serif Display"/>
              </a:rPr>
              <a:t>Abstract</a:t>
            </a:r>
          </a:p>
        </p:txBody>
      </p:sp>
      <p:sp>
        <p:nvSpPr>
          <p:cNvPr id="20" name="TextBox 20"/>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a:t>
            </a:r>
          </a:p>
        </p:txBody>
      </p:sp>
      <p:sp>
        <p:nvSpPr>
          <p:cNvPr id="22" name="TextBox 21"/>
          <p:cNvSpPr txBox="1"/>
          <p:nvPr/>
        </p:nvSpPr>
        <p:spPr>
          <a:xfrm>
            <a:off x="575122" y="1790700"/>
            <a:ext cx="13096003" cy="6863417"/>
          </a:xfrm>
          <a:prstGeom prst="rect">
            <a:avLst/>
          </a:prstGeom>
          <a:noFill/>
        </p:spPr>
        <p:txBody>
          <a:bodyPr wrap="square" rtlCol="0">
            <a:spAutoFit/>
          </a:bodyPr>
          <a:lstStyle/>
          <a:p>
            <a:r>
              <a:rPr lang="en-US" sz="4400" dirty="0">
                <a:latin typeface="Times New Roman" panose="02020603050405020304" pitchFamily="18" charset="0"/>
                <a:cs typeface="Times New Roman" panose="02020603050405020304" pitchFamily="18" charset="0"/>
              </a:rPr>
              <a:t>Gesture-Based Secure Communication Using Steganography is a system that improves data security by using </a:t>
            </a:r>
            <a:r>
              <a:rPr lang="en-US" sz="4400" b="1" dirty="0">
                <a:latin typeface="Times New Roman" panose="02020603050405020304" pitchFamily="18" charset="0"/>
                <a:cs typeface="Times New Roman" panose="02020603050405020304" pitchFamily="18" charset="0"/>
              </a:rPr>
              <a:t>hand gestures</a:t>
            </a:r>
            <a:r>
              <a:rPr lang="en-US" sz="4400" dirty="0">
                <a:latin typeface="Times New Roman" panose="02020603050405020304" pitchFamily="18" charset="0"/>
                <a:cs typeface="Times New Roman" panose="02020603050405020304" pitchFamily="18" charset="0"/>
              </a:rPr>
              <a:t> to control the </a:t>
            </a:r>
            <a:r>
              <a:rPr lang="en-US" sz="4400" b="1" dirty="0">
                <a:latin typeface="Times New Roman" panose="02020603050405020304" pitchFamily="18" charset="0"/>
                <a:cs typeface="Times New Roman" panose="02020603050405020304" pitchFamily="18" charset="0"/>
              </a:rPr>
              <a:t>hiding and revealing of secret information</a:t>
            </a:r>
            <a:r>
              <a:rPr lang="en-US" sz="4400" dirty="0">
                <a:latin typeface="Times New Roman" panose="02020603050405020304" pitchFamily="18" charset="0"/>
                <a:cs typeface="Times New Roman" panose="02020603050405020304" pitchFamily="18" charset="0"/>
              </a:rPr>
              <a:t>.</a:t>
            </a:r>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It uses </a:t>
            </a:r>
            <a:r>
              <a:rPr lang="en-US" sz="4400" b="1" dirty="0">
                <a:latin typeface="Times New Roman" panose="02020603050405020304" pitchFamily="18" charset="0"/>
                <a:cs typeface="Times New Roman" panose="02020603050405020304" pitchFamily="18" charset="0"/>
              </a:rPr>
              <a:t>steganography</a:t>
            </a:r>
            <a:r>
              <a:rPr lang="en-US" sz="4400" dirty="0">
                <a:latin typeface="Times New Roman" panose="02020603050405020304" pitchFamily="18" charset="0"/>
                <a:cs typeface="Times New Roman" panose="02020603050405020304" pitchFamily="18" charset="0"/>
              </a:rPr>
              <a:t>, a method of hiding data inside normal files like images so that no one can detect it.</a:t>
            </a:r>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By combining </a:t>
            </a:r>
            <a:r>
              <a:rPr lang="en-US" sz="4400" b="1" dirty="0">
                <a:latin typeface="Times New Roman" panose="02020603050405020304" pitchFamily="18" charset="0"/>
                <a:cs typeface="Times New Roman" panose="02020603050405020304" pitchFamily="18" charset="0"/>
              </a:rPr>
              <a:t>gesture recognition</a:t>
            </a:r>
            <a:r>
              <a:rPr lang="en-US" sz="4400" dirty="0">
                <a:latin typeface="Times New Roman" panose="02020603050405020304" pitchFamily="18" charset="0"/>
                <a:cs typeface="Times New Roman" panose="02020603050405020304" pitchFamily="18" charset="0"/>
              </a:rPr>
              <a:t> with </a:t>
            </a:r>
            <a:r>
              <a:rPr lang="en-US" sz="4400" b="1" dirty="0">
                <a:latin typeface="Times New Roman" panose="02020603050405020304" pitchFamily="18" charset="0"/>
                <a:cs typeface="Times New Roman" panose="02020603050405020304" pitchFamily="18" charset="0"/>
              </a:rPr>
              <a:t>steganography</a:t>
            </a:r>
            <a:r>
              <a:rPr lang="en-US" sz="4400" dirty="0">
                <a:latin typeface="Times New Roman" panose="02020603050405020304" pitchFamily="18" charset="0"/>
                <a:cs typeface="Times New Roman" panose="02020603050405020304" pitchFamily="18" charset="0"/>
              </a:rPr>
              <a:t>, the system provides an extra layer of security, making the hidden data both </a:t>
            </a:r>
            <a:r>
              <a:rPr lang="en-US" sz="4400" b="1" dirty="0">
                <a:latin typeface="Times New Roman" panose="02020603050405020304" pitchFamily="18" charset="0"/>
                <a:cs typeface="Times New Roman" panose="02020603050405020304" pitchFamily="18" charset="0"/>
              </a:rPr>
              <a:t>encrypted and invisible</a:t>
            </a:r>
            <a:r>
              <a:rPr lang="en-US" sz="4400" dirty="0">
                <a:latin typeface="Times New Roman" panose="02020603050405020304" pitchFamily="18" charset="0"/>
                <a:cs typeface="Times New Roman" panose="02020603050405020304" pitchFamily="18" charset="0"/>
              </a:rPr>
              <a:t> to unauthorized users.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5"/>
          <p:cNvSpPr txBox="1"/>
          <p:nvPr/>
        </p:nvSpPr>
        <p:spPr>
          <a:xfrm>
            <a:off x="5257800" y="266700"/>
            <a:ext cx="6987001" cy="1107932"/>
          </a:xfrm>
          <a:prstGeom prst="rect">
            <a:avLst/>
          </a:prstGeom>
        </p:spPr>
        <p:txBody>
          <a:bodyPr wrap="square" lIns="0" tIns="0" rIns="0" bIns="0" rtlCol="0" anchor="t">
            <a:spAutoFit/>
          </a:bodyPr>
          <a:lstStyle/>
          <a:p>
            <a:pPr>
              <a:lnSpc>
                <a:spcPts val="8959"/>
              </a:lnSpc>
            </a:pPr>
            <a:r>
              <a:rPr lang="en-IN" sz="6600" b="1" dirty="0">
                <a:latin typeface="DM Serif Display" panose="020B0604020202020204" charset="0"/>
              </a:rPr>
              <a:t>Introduction</a:t>
            </a:r>
            <a:endParaRPr lang="en-US" sz="6399" b="1" dirty="0">
              <a:solidFill>
                <a:srgbClr val="000000"/>
              </a:solidFill>
              <a:latin typeface="DM Serif Display" panose="020B0604020202020204" charset="0"/>
              <a:ea typeface="DM Serif Display"/>
              <a:cs typeface="DM Serif Display"/>
              <a:sym typeface="DM Serif Display"/>
            </a:endParaRPr>
          </a:p>
        </p:txBody>
      </p:sp>
      <p:sp>
        <p:nvSpPr>
          <p:cNvPr id="16" name="TextBox 16"/>
          <p:cNvSpPr txBox="1"/>
          <p:nvPr/>
        </p:nvSpPr>
        <p:spPr>
          <a:xfrm>
            <a:off x="457200" y="1790700"/>
            <a:ext cx="14249400" cy="6093976"/>
          </a:xfrm>
          <a:prstGeom prst="rect">
            <a:avLst/>
          </a:prstGeom>
        </p:spPr>
        <p:txBody>
          <a:bodyPr wrap="square" lIns="0" tIns="0" rIns="0" bIns="0" rtlCol="0" anchor="t">
            <a:spAutoFit/>
          </a:bodyPr>
          <a:lstStyle/>
          <a:p>
            <a:pPr algn="just"/>
            <a:r>
              <a:rPr lang="en-US" sz="4400" dirty="0">
                <a:latin typeface="Times New Roman" panose="02020603050405020304" pitchFamily="18" charset="0"/>
                <a:cs typeface="Times New Roman" panose="02020603050405020304" pitchFamily="18" charset="0"/>
              </a:rPr>
              <a:t>With the rapid growth of digital communication, protecting sensitive information has become a major concern. Conventional security methods mainly rely on encryption, which makes data unreadable but still visible to attackers. This visibility often attracts hacking attempts. To overcome these issues, the proposed system introduces gesture-based control along with steganography. By using hand gestures for authentication and hiding data inside media files, the system ensures secure, contactless, and intelligent communication.</a:t>
            </a:r>
          </a:p>
        </p:txBody>
      </p:sp>
      <p:sp>
        <p:nvSpPr>
          <p:cNvPr id="18" name="TextBox 18"/>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1351492"/>
            <a:ext cx="14837640"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Review of Video-Based Steganography for Secure Communication</a:t>
            </a:r>
            <a:endParaRPr lang="en-IN" sz="40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657600" y="462480"/>
            <a:ext cx="9601200" cy="800219"/>
          </a:xfrm>
          <a:prstGeom prst="rect">
            <a:avLst/>
          </a:prstGeom>
          <a:noFill/>
        </p:spPr>
        <p:txBody>
          <a:bodyPr wrap="square" rtlCol="0">
            <a:spAutoFit/>
          </a:bodyPr>
          <a:lstStyle/>
          <a:p>
            <a:r>
              <a:rPr lang="en-US" sz="4600" b="1" dirty="0">
                <a:latin typeface="Times New Roman" panose="02020603050405020304" pitchFamily="18" charset="0"/>
                <a:cs typeface="Times New Roman" panose="02020603050405020304" pitchFamily="18" charset="0"/>
              </a:rPr>
              <a:t>LITERATURE SURVEY</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4141836218"/>
              </p:ext>
            </p:extLst>
          </p:nvPr>
        </p:nvGraphicFramePr>
        <p:xfrm>
          <a:off x="457201" y="2548280"/>
          <a:ext cx="14609039" cy="7238999"/>
        </p:xfrm>
        <a:graphic>
          <a:graphicData uri="http://schemas.openxmlformats.org/drawingml/2006/table">
            <a:tbl>
              <a:tblPr>
                <a:tableStyleId>{D113A9D2-9D6B-4929-AA2D-F23B5EE8CBE7}</a:tableStyleId>
              </a:tblPr>
              <a:tblGrid>
                <a:gridCol w="2716895">
                  <a:extLst>
                    <a:ext uri="{9D8B030D-6E8A-4147-A177-3AD203B41FA5}">
                      <a16:colId xmlns:a16="http://schemas.microsoft.com/office/drawing/2014/main" val="4135342629"/>
                    </a:ext>
                  </a:extLst>
                </a:gridCol>
                <a:gridCol w="2973036">
                  <a:extLst>
                    <a:ext uri="{9D8B030D-6E8A-4147-A177-3AD203B41FA5}">
                      <a16:colId xmlns:a16="http://schemas.microsoft.com/office/drawing/2014/main" val="600693465"/>
                    </a:ext>
                  </a:extLst>
                </a:gridCol>
                <a:gridCol w="2973036">
                  <a:extLst>
                    <a:ext uri="{9D8B030D-6E8A-4147-A177-3AD203B41FA5}">
                      <a16:colId xmlns:a16="http://schemas.microsoft.com/office/drawing/2014/main" val="1675511789"/>
                    </a:ext>
                  </a:extLst>
                </a:gridCol>
                <a:gridCol w="2973036">
                  <a:extLst>
                    <a:ext uri="{9D8B030D-6E8A-4147-A177-3AD203B41FA5}">
                      <a16:colId xmlns:a16="http://schemas.microsoft.com/office/drawing/2014/main" val="3031556897"/>
                    </a:ext>
                  </a:extLst>
                </a:gridCol>
                <a:gridCol w="2973036">
                  <a:extLst>
                    <a:ext uri="{9D8B030D-6E8A-4147-A177-3AD203B41FA5}">
                      <a16:colId xmlns:a16="http://schemas.microsoft.com/office/drawing/2014/main" val="1754101267"/>
                    </a:ext>
                  </a:extLst>
                </a:gridCol>
              </a:tblGrid>
              <a:tr h="1858662">
                <a:tc>
                  <a:txBody>
                    <a:bodyPr/>
                    <a:lstStyle/>
                    <a:p>
                      <a:pPr algn="ctr"/>
                      <a:r>
                        <a:rPr lang="en-IN" sz="3600" b="1" dirty="0">
                          <a:solidFill>
                            <a:schemeClr val="tx1"/>
                          </a:solidFill>
                          <a:latin typeface="Times New Roman" panose="02020603050405020304" pitchFamily="18" charset="0"/>
                          <a:cs typeface="Times New Roman" panose="02020603050405020304" pitchFamily="18" charset="0"/>
                        </a:rPr>
                        <a:t>Title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3600" b="1" dirty="0">
                          <a:solidFill>
                            <a:schemeClr val="tx1"/>
                          </a:solidFill>
                          <a:latin typeface="Times New Roman" panose="02020603050405020304" pitchFamily="18" charset="0"/>
                          <a:cs typeface="Times New Roman" panose="02020603050405020304" pitchFamily="18" charset="0"/>
                        </a:rPr>
                        <a:t>     Author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3600" b="1" dirty="0">
                          <a:solidFill>
                            <a:schemeClr val="tx1"/>
                          </a:solidFill>
                          <a:latin typeface="Times New Roman" panose="02020603050405020304" pitchFamily="18" charset="0"/>
                          <a:cs typeface="Times New Roman" panose="02020603050405020304" pitchFamily="18" charset="0"/>
                        </a:rPr>
                        <a:t>Methodology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3600" b="1" dirty="0">
                          <a:solidFill>
                            <a:schemeClr val="tx1"/>
                          </a:solidFill>
                          <a:latin typeface="Times New Roman" panose="02020603050405020304" pitchFamily="18" charset="0"/>
                          <a:cs typeface="Times New Roman" panose="02020603050405020304" pitchFamily="18" charset="0"/>
                        </a:rPr>
                        <a:t>Drawbacks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3600" b="1" dirty="0">
                          <a:solidFill>
                            <a:schemeClr val="tx1"/>
                          </a:solidFill>
                          <a:latin typeface="Times New Roman" panose="02020603050405020304" pitchFamily="18" charset="0"/>
                          <a:cs typeface="Times New Roman" panose="02020603050405020304" pitchFamily="18" charset="0"/>
                        </a:rPr>
                        <a:t>Improvement in Our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6263059"/>
                  </a:ext>
                </a:extLst>
              </a:tr>
              <a:tr h="5380337">
                <a:tc>
                  <a:txBody>
                    <a:bodyPr/>
                    <a:lstStyle/>
                    <a:p>
                      <a:pPr algn="ctr"/>
                      <a:r>
                        <a:rPr lang="en-US" sz="3600" dirty="0">
                          <a:solidFill>
                            <a:schemeClr val="tx1"/>
                          </a:solidFill>
                          <a:latin typeface="Times New Roman" panose="02020603050405020304" pitchFamily="18" charset="0"/>
                          <a:cs typeface="Times New Roman" panose="02020603050405020304" pitchFamily="18" charset="0"/>
                        </a:rPr>
                        <a:t>Data Encryption and Decryption Using</a:t>
                      </a:r>
                    </a:p>
                    <a:p>
                      <a:pPr algn="ctr"/>
                      <a:r>
                        <a:rPr lang="en-US" sz="3500" dirty="0">
                          <a:solidFill>
                            <a:schemeClr val="tx1"/>
                          </a:solidFill>
                          <a:latin typeface="Times New Roman" panose="02020603050405020304" pitchFamily="18" charset="0"/>
                          <a:cs typeface="Times New Roman" panose="02020603050405020304" pitchFamily="18" charset="0"/>
                        </a:rPr>
                        <a:t>Ste</a:t>
                      </a:r>
                      <a:r>
                        <a:rPr lang="en-US" sz="3200" dirty="0">
                          <a:solidFill>
                            <a:schemeClr val="tx1"/>
                          </a:solidFill>
                          <a:latin typeface="Times New Roman" panose="02020603050405020304" pitchFamily="18" charset="0"/>
                          <a:cs typeface="Times New Roman" panose="02020603050405020304" pitchFamily="18" charset="0"/>
                        </a:rPr>
                        <a:t>ganography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4000" dirty="0">
                          <a:solidFill>
                            <a:schemeClr val="tx1"/>
                          </a:solidFill>
                          <a:latin typeface="Times New Roman" panose="02020603050405020304" pitchFamily="18" charset="0"/>
                          <a:cs typeface="Times New Roman" panose="02020603050405020304" pitchFamily="18" charset="0"/>
                        </a:rPr>
                        <a:t>N. Manohar et 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600" dirty="0">
                          <a:solidFill>
                            <a:schemeClr val="tx1"/>
                          </a:solidFill>
                          <a:latin typeface="Times New Roman" panose="02020603050405020304" pitchFamily="18" charset="0"/>
                          <a:cs typeface="Times New Roman" panose="02020603050405020304" pitchFamily="18" charset="0"/>
                        </a:rPr>
                        <a:t>Video steganography using LSB, Neural Networks, and Fuzzy Logic with PSNR and MSE evaluation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600" dirty="0">
                          <a:solidFill>
                            <a:schemeClr val="tx1"/>
                          </a:solidFill>
                          <a:latin typeface="Times New Roman" panose="02020603050405020304" pitchFamily="18" charset="0"/>
                          <a:cs typeface="Times New Roman" panose="02020603050405020304" pitchFamily="18" charset="0"/>
                        </a:rPr>
                        <a:t>Uses only steganography, no authentication layer, high computational complexity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600" dirty="0">
                          <a:solidFill>
                            <a:schemeClr val="tx1"/>
                          </a:solidFill>
                          <a:latin typeface="Times New Roman" panose="02020603050405020304" pitchFamily="18" charset="0"/>
                          <a:cs typeface="Times New Roman" panose="02020603050405020304" pitchFamily="18" charset="0"/>
                        </a:rPr>
                        <a:t>Adds gesture-based authentication with steganography to provide dual-layer security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73788704"/>
                  </a:ext>
                </a:extLst>
              </a:tr>
            </a:tbl>
          </a:graphicData>
        </a:graphic>
      </p:graphicFrame>
    </p:spTree>
    <p:extLst>
      <p:ext uri="{BB962C8B-B14F-4D97-AF65-F5344CB8AC3E}">
        <p14:creationId xmlns:p14="http://schemas.microsoft.com/office/powerpoint/2010/main" val="3317938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62000" y="1340941"/>
            <a:ext cx="14837640" cy="830997"/>
          </a:xfrm>
          <a:prstGeom prst="rect">
            <a:avLst/>
          </a:prstGeom>
          <a:noFill/>
        </p:spPr>
        <p:txBody>
          <a:bodyPr wrap="square" rtlCol="0">
            <a:spAutoFit/>
          </a:bodyPr>
          <a:lstStyle/>
          <a:p>
            <a:r>
              <a:rPr lang="en-US" sz="4800" b="1" dirty="0">
                <a:latin typeface="Times New Roman" panose="02020603050405020304" pitchFamily="18" charset="0"/>
                <a:cs typeface="Times New Roman" panose="02020603050405020304" pitchFamily="18" charset="0"/>
              </a:rPr>
              <a:t>Review of Advanced Video Steganography Methods</a:t>
            </a:r>
            <a:endParaRPr lang="en-IN" sz="48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4800600" y="480060"/>
            <a:ext cx="9601200" cy="830997"/>
          </a:xfrm>
          <a:prstGeom prst="rect">
            <a:avLst/>
          </a:prstGeom>
          <a:noFill/>
        </p:spPr>
        <p:txBody>
          <a:bodyPr wrap="square" rtlCol="0">
            <a:spAutoFit/>
          </a:bodyPr>
          <a:lstStyle/>
          <a:p>
            <a:r>
              <a:rPr lang="en-US" sz="4800" b="1" dirty="0">
                <a:latin typeface="Times New Roman" panose="02020603050405020304" pitchFamily="18" charset="0"/>
                <a:cs typeface="Times New Roman" panose="02020603050405020304" pitchFamily="18" charset="0"/>
              </a:rPr>
              <a:t>LITERATURE SURVEY</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183619952"/>
              </p:ext>
            </p:extLst>
          </p:nvPr>
        </p:nvGraphicFramePr>
        <p:xfrm>
          <a:off x="533400" y="2552700"/>
          <a:ext cx="14630400" cy="5867400"/>
        </p:xfrm>
        <a:graphic>
          <a:graphicData uri="http://schemas.openxmlformats.org/drawingml/2006/table">
            <a:tbl>
              <a:tblPr>
                <a:tableStyleId>{D113A9D2-9D6B-4929-AA2D-F23B5EE8CBE7}</a:tableStyleId>
              </a:tblPr>
              <a:tblGrid>
                <a:gridCol w="2926080">
                  <a:extLst>
                    <a:ext uri="{9D8B030D-6E8A-4147-A177-3AD203B41FA5}">
                      <a16:colId xmlns:a16="http://schemas.microsoft.com/office/drawing/2014/main" val="3177997140"/>
                    </a:ext>
                  </a:extLst>
                </a:gridCol>
                <a:gridCol w="2926080">
                  <a:extLst>
                    <a:ext uri="{9D8B030D-6E8A-4147-A177-3AD203B41FA5}">
                      <a16:colId xmlns:a16="http://schemas.microsoft.com/office/drawing/2014/main" val="2117164267"/>
                    </a:ext>
                  </a:extLst>
                </a:gridCol>
                <a:gridCol w="2926080">
                  <a:extLst>
                    <a:ext uri="{9D8B030D-6E8A-4147-A177-3AD203B41FA5}">
                      <a16:colId xmlns:a16="http://schemas.microsoft.com/office/drawing/2014/main" val="2325520826"/>
                    </a:ext>
                  </a:extLst>
                </a:gridCol>
                <a:gridCol w="2926080">
                  <a:extLst>
                    <a:ext uri="{9D8B030D-6E8A-4147-A177-3AD203B41FA5}">
                      <a16:colId xmlns:a16="http://schemas.microsoft.com/office/drawing/2014/main" val="3540195176"/>
                    </a:ext>
                  </a:extLst>
                </a:gridCol>
                <a:gridCol w="2926080">
                  <a:extLst>
                    <a:ext uri="{9D8B030D-6E8A-4147-A177-3AD203B41FA5}">
                      <a16:colId xmlns:a16="http://schemas.microsoft.com/office/drawing/2014/main" val="3951391225"/>
                    </a:ext>
                  </a:extLst>
                </a:gridCol>
              </a:tblGrid>
              <a:tr h="1377765">
                <a:tc>
                  <a:txBody>
                    <a:bodyPr/>
                    <a:lstStyle/>
                    <a:p>
                      <a:r>
                        <a:rPr lang="en-IN" sz="3600" b="1" dirty="0">
                          <a:solidFill>
                            <a:schemeClr val="tx1"/>
                          </a:solidFill>
                          <a:latin typeface="Times New Roman" panose="02020603050405020304" pitchFamily="18" charset="0"/>
                          <a:cs typeface="Times New Roman" panose="02020603050405020304" pitchFamily="18" charset="0"/>
                        </a:rPr>
                        <a:t>      Title</a:t>
                      </a:r>
                    </a:p>
                  </a:txBody>
                  <a:tcPr marL="32572" marR="32572" marT="16286" marB="1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3600" b="1" dirty="0">
                          <a:solidFill>
                            <a:schemeClr val="tx1"/>
                          </a:solidFill>
                          <a:latin typeface="Times New Roman" panose="02020603050405020304" pitchFamily="18" charset="0"/>
                          <a:cs typeface="Times New Roman" panose="02020603050405020304" pitchFamily="18" charset="0"/>
                        </a:rPr>
                        <a:t>     Author</a:t>
                      </a:r>
                    </a:p>
                  </a:txBody>
                  <a:tcPr marL="32572" marR="32572" marT="16286" marB="1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3600" b="1" dirty="0">
                          <a:solidFill>
                            <a:schemeClr val="tx1"/>
                          </a:solidFill>
                          <a:latin typeface="Times New Roman" panose="02020603050405020304" pitchFamily="18" charset="0"/>
                          <a:cs typeface="Times New Roman" panose="02020603050405020304" pitchFamily="18" charset="0"/>
                        </a:rPr>
                        <a:t>Methodology</a:t>
                      </a:r>
                    </a:p>
                  </a:txBody>
                  <a:tcPr marL="32572" marR="32572" marT="16286" marB="1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3600" b="1" dirty="0">
                          <a:solidFill>
                            <a:schemeClr val="tx1"/>
                          </a:solidFill>
                          <a:latin typeface="Times New Roman" panose="02020603050405020304" pitchFamily="18" charset="0"/>
                          <a:cs typeface="Times New Roman" panose="02020603050405020304" pitchFamily="18" charset="0"/>
                        </a:rPr>
                        <a:t>Drawbacks</a:t>
                      </a:r>
                    </a:p>
                  </a:txBody>
                  <a:tcPr marL="32572" marR="32572" marT="16286" marB="1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3600" b="1" dirty="0">
                          <a:solidFill>
                            <a:schemeClr val="tx1"/>
                          </a:solidFill>
                          <a:latin typeface="Times New Roman" panose="02020603050405020304" pitchFamily="18" charset="0"/>
                          <a:cs typeface="Times New Roman" panose="02020603050405020304" pitchFamily="18" charset="0"/>
                        </a:rPr>
                        <a:t>Improvement in Our Project</a:t>
                      </a:r>
                    </a:p>
                  </a:txBody>
                  <a:tcPr marL="32572" marR="32572" marT="16286" marB="1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299551"/>
                  </a:ext>
                </a:extLst>
              </a:tr>
              <a:tr h="4489635">
                <a:tc>
                  <a:txBody>
                    <a:bodyPr/>
                    <a:lstStyle/>
                    <a:p>
                      <a:pPr algn="ctr"/>
                      <a:r>
                        <a:rPr lang="en-US" sz="3600" dirty="0">
                          <a:solidFill>
                            <a:schemeClr val="tx1"/>
                          </a:solidFill>
                          <a:latin typeface="Times New Roman" panose="02020603050405020304" pitchFamily="18" charset="0"/>
                          <a:cs typeface="Times New Roman" panose="02020603050405020304" pitchFamily="18" charset="0"/>
                        </a:rPr>
                        <a:t>Directional PixoGram: A New Approach for Video Steganography</a:t>
                      </a:r>
                    </a:p>
                  </a:txBody>
                  <a:tcPr marL="32572" marR="32572" marT="16286" marB="1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3600" dirty="0">
                          <a:solidFill>
                            <a:schemeClr val="tx1"/>
                          </a:solidFill>
                          <a:latin typeface="Times New Roman" panose="02020603050405020304" pitchFamily="18" charset="0"/>
                          <a:cs typeface="Times New Roman" panose="02020603050405020304" pitchFamily="18" charset="0"/>
                        </a:rPr>
                        <a:t>Mohammed Baziyad et al.</a:t>
                      </a:r>
                    </a:p>
                  </a:txBody>
                  <a:tcPr marL="32572" marR="32572" marT="16286" marB="1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600" dirty="0">
                          <a:solidFill>
                            <a:schemeClr val="tx1"/>
                          </a:solidFill>
                          <a:latin typeface="Times New Roman" panose="02020603050405020304" pitchFamily="18" charset="0"/>
                          <a:cs typeface="Times New Roman" panose="02020603050405020304" pitchFamily="18" charset="0"/>
                        </a:rPr>
                        <a:t>Video steganography using motion vectors and DCT coefficients</a:t>
                      </a:r>
                    </a:p>
                  </a:txBody>
                  <a:tcPr marL="32572" marR="32572" marT="16286" marB="1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600" dirty="0">
                          <a:solidFill>
                            <a:schemeClr val="tx1"/>
                          </a:solidFill>
                          <a:latin typeface="Times New Roman" panose="02020603050405020304" pitchFamily="18" charset="0"/>
                          <a:cs typeface="Times New Roman" panose="02020603050405020304" pitchFamily="18" charset="0"/>
                        </a:rPr>
                        <a:t>High processing cost, suitable only for video, no authentication</a:t>
                      </a:r>
                    </a:p>
                  </a:txBody>
                  <a:tcPr marL="32572" marR="32572" marT="16286" marB="1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600" dirty="0">
                          <a:solidFill>
                            <a:schemeClr val="tx1"/>
                          </a:solidFill>
                          <a:latin typeface="Times New Roman" panose="02020603050405020304" pitchFamily="18" charset="0"/>
                          <a:cs typeface="Times New Roman" panose="02020603050405020304" pitchFamily="18" charset="0"/>
                        </a:rPr>
                        <a:t>Lightweight image-based steganography with gesture authentication</a:t>
                      </a:r>
                    </a:p>
                  </a:txBody>
                  <a:tcPr marL="32572" marR="32572" marT="16286" marB="1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0136945"/>
                  </a:ext>
                </a:extLst>
              </a:tr>
            </a:tbl>
          </a:graphicData>
        </a:graphic>
      </p:graphicFrame>
    </p:spTree>
    <p:extLst>
      <p:ext uri="{BB962C8B-B14F-4D97-AF65-F5344CB8AC3E}">
        <p14:creationId xmlns:p14="http://schemas.microsoft.com/office/powerpoint/2010/main" val="3721390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72680" y="1970157"/>
            <a:ext cx="14837640" cy="769441"/>
          </a:xfrm>
          <a:prstGeom prst="rect">
            <a:avLst/>
          </a:prstGeom>
          <a:noFill/>
        </p:spPr>
        <p:txBody>
          <a:bodyPr wrap="square" rtlCol="0">
            <a:spAutoFit/>
          </a:bodyPr>
          <a:lstStyle/>
          <a:p>
            <a:r>
              <a:rPr lang="en-US" sz="4400" b="1" dirty="0">
                <a:latin typeface="Times New Roman" panose="02020603050405020304" pitchFamily="18" charset="0"/>
                <a:cs typeface="Times New Roman" panose="02020603050405020304" pitchFamily="18" charset="0"/>
              </a:rPr>
              <a:t>Review of Pixel-Based Image Steganography Algorithms</a:t>
            </a:r>
            <a:endParaRPr lang="en-IN" sz="44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810000" y="647700"/>
            <a:ext cx="9601200" cy="830997"/>
          </a:xfrm>
          <a:prstGeom prst="rect">
            <a:avLst/>
          </a:prstGeom>
          <a:noFill/>
        </p:spPr>
        <p:txBody>
          <a:bodyPr wrap="square" rtlCol="0">
            <a:spAutoFit/>
          </a:bodyPr>
          <a:lstStyle/>
          <a:p>
            <a:r>
              <a:rPr lang="en-US" sz="4800" b="1" dirty="0">
                <a:latin typeface="Times New Roman" panose="02020603050405020304" pitchFamily="18" charset="0"/>
                <a:cs typeface="Times New Roman" panose="02020603050405020304" pitchFamily="18" charset="0"/>
              </a:rPr>
              <a:t>LITERATURE SURVEY</a:t>
            </a:r>
          </a:p>
        </p:txBody>
      </p:sp>
      <p:graphicFrame>
        <p:nvGraphicFramePr>
          <p:cNvPr id="12" name="Content Placeholder 11"/>
          <p:cNvGraphicFramePr>
            <a:graphicFrameLocks noGrp="1"/>
          </p:cNvGraphicFramePr>
          <p:nvPr>
            <p:ph idx="1"/>
            <p:extLst>
              <p:ext uri="{D42A27DB-BD31-4B8C-83A1-F6EECF244321}">
                <p14:modId xmlns:p14="http://schemas.microsoft.com/office/powerpoint/2010/main" val="2793985099"/>
              </p:ext>
            </p:extLst>
          </p:nvPr>
        </p:nvGraphicFramePr>
        <p:xfrm>
          <a:off x="217920" y="3249721"/>
          <a:ext cx="15392400" cy="4849742"/>
        </p:xfrm>
        <a:graphic>
          <a:graphicData uri="http://schemas.openxmlformats.org/drawingml/2006/table">
            <a:tbl>
              <a:tblPr>
                <a:tableStyleId>{D113A9D2-9D6B-4929-AA2D-F23B5EE8CBE7}</a:tableStyleId>
              </a:tblPr>
              <a:tblGrid>
                <a:gridCol w="3078480">
                  <a:extLst>
                    <a:ext uri="{9D8B030D-6E8A-4147-A177-3AD203B41FA5}">
                      <a16:colId xmlns:a16="http://schemas.microsoft.com/office/drawing/2014/main" val="650487353"/>
                    </a:ext>
                  </a:extLst>
                </a:gridCol>
                <a:gridCol w="3078480">
                  <a:extLst>
                    <a:ext uri="{9D8B030D-6E8A-4147-A177-3AD203B41FA5}">
                      <a16:colId xmlns:a16="http://schemas.microsoft.com/office/drawing/2014/main" val="1328731926"/>
                    </a:ext>
                  </a:extLst>
                </a:gridCol>
                <a:gridCol w="3078480">
                  <a:extLst>
                    <a:ext uri="{9D8B030D-6E8A-4147-A177-3AD203B41FA5}">
                      <a16:colId xmlns:a16="http://schemas.microsoft.com/office/drawing/2014/main" val="4266719274"/>
                    </a:ext>
                  </a:extLst>
                </a:gridCol>
                <a:gridCol w="3078480">
                  <a:extLst>
                    <a:ext uri="{9D8B030D-6E8A-4147-A177-3AD203B41FA5}">
                      <a16:colId xmlns:a16="http://schemas.microsoft.com/office/drawing/2014/main" val="3988449255"/>
                    </a:ext>
                  </a:extLst>
                </a:gridCol>
                <a:gridCol w="3078480">
                  <a:extLst>
                    <a:ext uri="{9D8B030D-6E8A-4147-A177-3AD203B41FA5}">
                      <a16:colId xmlns:a16="http://schemas.microsoft.com/office/drawing/2014/main" val="1960704527"/>
                    </a:ext>
                  </a:extLst>
                </a:gridCol>
              </a:tblGrid>
              <a:tr h="1345788">
                <a:tc>
                  <a:txBody>
                    <a:bodyPr/>
                    <a:lstStyle/>
                    <a:p>
                      <a:r>
                        <a:rPr lang="en-IN" sz="3600" b="1" dirty="0">
                          <a:solidFill>
                            <a:schemeClr val="tx1"/>
                          </a:solidFill>
                          <a:latin typeface="Times New Roman" panose="02020603050405020304" pitchFamily="18" charset="0"/>
                          <a:cs typeface="Times New Roman" panose="02020603050405020304" pitchFamily="18" charset="0"/>
                        </a:rPr>
                        <a:t>       Title</a:t>
                      </a:r>
                    </a:p>
                  </a:txBody>
                  <a:tcPr marL="88424" marR="88424" marT="44212" marB="442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3600" b="1" dirty="0">
                          <a:solidFill>
                            <a:schemeClr val="tx1"/>
                          </a:solidFill>
                          <a:latin typeface="Times New Roman" panose="02020603050405020304" pitchFamily="18" charset="0"/>
                          <a:cs typeface="Times New Roman" panose="02020603050405020304" pitchFamily="18" charset="0"/>
                        </a:rPr>
                        <a:t>    Author</a:t>
                      </a:r>
                    </a:p>
                  </a:txBody>
                  <a:tcPr marL="88424" marR="88424" marT="44212" marB="442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3600" b="1" dirty="0">
                          <a:solidFill>
                            <a:schemeClr val="tx1"/>
                          </a:solidFill>
                          <a:latin typeface="Times New Roman" panose="02020603050405020304" pitchFamily="18" charset="0"/>
                          <a:cs typeface="Times New Roman" panose="02020603050405020304" pitchFamily="18" charset="0"/>
                        </a:rPr>
                        <a:t>Methodology</a:t>
                      </a:r>
                    </a:p>
                  </a:txBody>
                  <a:tcPr marL="88424" marR="88424" marT="44212" marB="442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3600" b="1" dirty="0">
                          <a:solidFill>
                            <a:schemeClr val="tx1"/>
                          </a:solidFill>
                          <a:latin typeface="Times New Roman" panose="02020603050405020304" pitchFamily="18" charset="0"/>
                          <a:cs typeface="Times New Roman" panose="02020603050405020304" pitchFamily="18" charset="0"/>
                        </a:rPr>
                        <a:t>Drawbacks</a:t>
                      </a:r>
                    </a:p>
                  </a:txBody>
                  <a:tcPr marL="88424" marR="88424" marT="44212" marB="442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3600" b="1" dirty="0">
                          <a:solidFill>
                            <a:schemeClr val="tx1"/>
                          </a:solidFill>
                          <a:latin typeface="Times New Roman" panose="02020603050405020304" pitchFamily="18" charset="0"/>
                          <a:cs typeface="Times New Roman" panose="02020603050405020304" pitchFamily="18" charset="0"/>
                        </a:rPr>
                        <a:t>Improvement in Our Project</a:t>
                      </a:r>
                    </a:p>
                  </a:txBody>
                  <a:tcPr marL="88424" marR="88424" marT="44212" marB="442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46792680"/>
                  </a:ext>
                </a:extLst>
              </a:tr>
              <a:tr h="3503954">
                <a:tc>
                  <a:txBody>
                    <a:bodyPr/>
                    <a:lstStyle/>
                    <a:p>
                      <a:pPr algn="ctr"/>
                      <a:r>
                        <a:rPr lang="en-US" sz="3600" dirty="0">
                          <a:solidFill>
                            <a:schemeClr val="tx1"/>
                          </a:solidFill>
                          <a:latin typeface="Times New Roman" panose="02020603050405020304" pitchFamily="18" charset="0"/>
                          <a:cs typeface="Times New Roman" panose="02020603050405020304" pitchFamily="18" charset="0"/>
                        </a:rPr>
                        <a:t>A Novel Pixel-Based Steganography Algorithm in Image Hiding</a:t>
                      </a:r>
                    </a:p>
                  </a:txBody>
                  <a:tcPr marL="88424" marR="88424" marT="44212" marB="442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a-DK" sz="3600" dirty="0">
                          <a:solidFill>
                            <a:schemeClr val="tx1"/>
                          </a:solidFill>
                          <a:latin typeface="Times New Roman" panose="02020603050405020304" pitchFamily="18" charset="0"/>
                          <a:cs typeface="Times New Roman" panose="02020603050405020304" pitchFamily="18" charset="0"/>
                        </a:rPr>
                        <a:t>Jawwad A. R. Kazi et al.</a:t>
                      </a:r>
                    </a:p>
                  </a:txBody>
                  <a:tcPr marL="88424" marR="88424" marT="44212" marB="442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600" dirty="0">
                          <a:solidFill>
                            <a:schemeClr val="tx1"/>
                          </a:solidFill>
                          <a:latin typeface="Times New Roman" panose="02020603050405020304" pitchFamily="18" charset="0"/>
                          <a:cs typeface="Times New Roman" panose="02020603050405020304" pitchFamily="18" charset="0"/>
                        </a:rPr>
                        <a:t>Pixel-level embedding of text in images</a:t>
                      </a:r>
                    </a:p>
                  </a:txBody>
                  <a:tcPr marL="88424" marR="88424" marT="44212" marB="442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3600" dirty="0">
                          <a:solidFill>
                            <a:schemeClr val="tx1"/>
                          </a:solidFill>
                          <a:latin typeface="Times New Roman" panose="02020603050405020304" pitchFamily="18" charset="0"/>
                          <a:cs typeface="Times New Roman" panose="02020603050405020304" pitchFamily="18" charset="0"/>
                        </a:rPr>
                        <a:t>Single-layer security, vulnerable if algorithm is known</a:t>
                      </a:r>
                    </a:p>
                  </a:txBody>
                  <a:tcPr marL="88424" marR="88424" marT="44212" marB="442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600" dirty="0">
                          <a:solidFill>
                            <a:schemeClr val="tx1"/>
                          </a:solidFill>
                          <a:latin typeface="Times New Roman" panose="02020603050405020304" pitchFamily="18" charset="0"/>
                          <a:cs typeface="Times New Roman" panose="02020603050405020304" pitchFamily="18" charset="0"/>
                        </a:rPr>
                        <a:t>Adds gesture-based verification for secure data extraction</a:t>
                      </a:r>
                    </a:p>
                  </a:txBody>
                  <a:tcPr marL="88424" marR="88424" marT="44212" marB="442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2605574"/>
                  </a:ext>
                </a:extLst>
              </a:tr>
            </a:tbl>
          </a:graphicData>
        </a:graphic>
      </p:graphicFrame>
    </p:spTree>
    <p:extLst>
      <p:ext uri="{BB962C8B-B14F-4D97-AF65-F5344CB8AC3E}">
        <p14:creationId xmlns:p14="http://schemas.microsoft.com/office/powerpoint/2010/main" val="2423519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5257800" y="-186377"/>
            <a:ext cx="6574284" cy="1154162"/>
          </a:xfrm>
          <a:prstGeom prst="rect">
            <a:avLst/>
          </a:prstGeom>
        </p:spPr>
        <p:txBody>
          <a:bodyPr wrap="square" lIns="0" tIns="0" rIns="0" bIns="0" rtlCol="0" anchor="t">
            <a:spAutoFit/>
          </a:bodyPr>
          <a:lstStyle/>
          <a:p>
            <a:pPr>
              <a:lnSpc>
                <a:spcPts val="8959"/>
              </a:lnSpc>
            </a:pPr>
            <a:r>
              <a:rPr lang="en-IN" sz="6000" b="1" dirty="0">
                <a:latin typeface="DM Serif Display" panose="020B0604020202020204" charset="0"/>
              </a:rPr>
              <a:t>Existing System</a:t>
            </a:r>
            <a:endParaRPr lang="en-US" sz="6000" b="1" dirty="0">
              <a:solidFill>
                <a:srgbClr val="000000"/>
              </a:solidFill>
              <a:latin typeface="DM Serif Display" panose="020B0604020202020204" charset="0"/>
              <a:ea typeface="DM Serif Display"/>
              <a:cs typeface="DM Serif Display"/>
              <a:sym typeface="DM Serif Display"/>
            </a:endParaRPr>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5</a:t>
            </a:r>
          </a:p>
        </p:txBody>
      </p:sp>
      <p:sp>
        <p:nvSpPr>
          <p:cNvPr id="8" name="TextBox 8"/>
          <p:cNvSpPr txBox="1"/>
          <p:nvPr/>
        </p:nvSpPr>
        <p:spPr>
          <a:xfrm>
            <a:off x="232563" y="1444367"/>
            <a:ext cx="15083637" cy="8771632"/>
          </a:xfrm>
          <a:prstGeom prst="rect">
            <a:avLst/>
          </a:prstGeom>
        </p:spPr>
        <p:txBody>
          <a:bodyPr wrap="square" lIns="0" tIns="0" rIns="0" bIns="0" rtlCol="0" anchor="t">
            <a:spAutoFit/>
          </a:bodyPr>
          <a:lstStyle/>
          <a:p>
            <a:pPr marL="571500" indent="-571500">
              <a:buFont typeface="Wingdings" panose="05000000000000000000" pitchFamily="2" charset="2"/>
              <a:buChar char="Ø"/>
            </a:pPr>
            <a:r>
              <a:rPr lang="en-US" sz="3800" dirty="0">
                <a:latin typeface="Times New Roman" panose="02020603050405020304" pitchFamily="18" charset="0"/>
                <a:cs typeface="Times New Roman" panose="02020603050405020304" pitchFamily="18" charset="0"/>
              </a:rPr>
              <a:t>In the existing communication systems, most data protection methods depend on </a:t>
            </a:r>
            <a:r>
              <a:rPr lang="en-US" sz="3800" b="1" dirty="0">
                <a:latin typeface="Times New Roman" panose="02020603050405020304" pitchFamily="18" charset="0"/>
                <a:cs typeface="Times New Roman" panose="02020603050405020304" pitchFamily="18" charset="0"/>
              </a:rPr>
              <a:t>encryption</a:t>
            </a:r>
            <a:r>
              <a:rPr lang="en-US" sz="3800" dirty="0">
                <a:latin typeface="Times New Roman" panose="02020603050405020304" pitchFamily="18" charset="0"/>
                <a:cs typeface="Times New Roman" panose="02020603050405020304" pitchFamily="18" charset="0"/>
              </a:rPr>
              <a:t> and </a:t>
            </a:r>
            <a:r>
              <a:rPr lang="en-US" sz="3800" b="1" dirty="0">
                <a:latin typeface="Times New Roman" panose="02020603050405020304" pitchFamily="18" charset="0"/>
                <a:cs typeface="Times New Roman" panose="02020603050405020304" pitchFamily="18" charset="0"/>
              </a:rPr>
              <a:t>password-based security</a:t>
            </a:r>
            <a:r>
              <a:rPr lang="en-US" sz="3800" dirty="0">
                <a:latin typeface="Times New Roman" panose="02020603050405020304" pitchFamily="18" charset="0"/>
                <a:cs typeface="Times New Roman" panose="02020603050405020304" pitchFamily="18" charset="0"/>
              </a:rPr>
              <a:t>.</a:t>
            </a:r>
            <a:br>
              <a:rPr lang="en-US" sz="3800" dirty="0">
                <a:latin typeface="Times New Roman" panose="02020603050405020304" pitchFamily="18" charset="0"/>
                <a:cs typeface="Times New Roman" panose="02020603050405020304" pitchFamily="18" charset="0"/>
              </a:rPr>
            </a:br>
            <a:endParaRPr lang="en-US" sz="38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3800" dirty="0">
                <a:latin typeface="Times New Roman" panose="02020603050405020304" pitchFamily="18" charset="0"/>
                <a:cs typeface="Times New Roman" panose="02020603050405020304" pitchFamily="18" charset="0"/>
              </a:rPr>
              <a:t>Encryption hides the meaning of the message but does not hide the message itself  anyone can see that secret communication is happening.</a:t>
            </a:r>
            <a:br>
              <a:rPr lang="en-US" sz="3800" dirty="0">
                <a:latin typeface="Times New Roman" panose="02020603050405020304" pitchFamily="18" charset="0"/>
                <a:cs typeface="Times New Roman" panose="02020603050405020304" pitchFamily="18" charset="0"/>
              </a:rPr>
            </a:br>
            <a:endParaRPr lang="en-US" sz="38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3800" dirty="0">
                <a:latin typeface="Times New Roman" panose="02020603050405020304" pitchFamily="18" charset="0"/>
                <a:cs typeface="Times New Roman" panose="02020603050405020304" pitchFamily="18" charset="0"/>
              </a:rPr>
              <a:t>These systems mainly use </a:t>
            </a:r>
            <a:r>
              <a:rPr lang="en-US" sz="3800" b="1" dirty="0">
                <a:latin typeface="Times New Roman" panose="02020603050405020304" pitchFamily="18" charset="0"/>
                <a:cs typeface="Times New Roman" panose="02020603050405020304" pitchFamily="18" charset="0"/>
              </a:rPr>
              <a:t>text-based or key-based authentication</a:t>
            </a:r>
            <a:r>
              <a:rPr lang="en-US" sz="3800" dirty="0">
                <a:latin typeface="Times New Roman" panose="02020603050405020304" pitchFamily="18" charset="0"/>
                <a:cs typeface="Times New Roman" panose="02020603050405020304" pitchFamily="18" charset="0"/>
              </a:rPr>
              <a:t>, which can be easily targeted by hackers through brute-force or phishing attacks.</a:t>
            </a:r>
          </a:p>
          <a:p>
            <a:endParaRPr lang="en-US" sz="38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3800" dirty="0">
                <a:latin typeface="Times New Roman" panose="02020603050405020304" pitchFamily="18" charset="0"/>
                <a:cs typeface="Times New Roman" panose="02020603050405020304" pitchFamily="18" charset="0"/>
              </a:rPr>
              <a:t>Existing secure systems also lack </a:t>
            </a:r>
            <a:r>
              <a:rPr lang="en-US" sz="3800" b="1" dirty="0">
                <a:latin typeface="Times New Roman" panose="02020603050405020304" pitchFamily="18" charset="0"/>
                <a:cs typeface="Times New Roman" panose="02020603050405020304" pitchFamily="18" charset="0"/>
              </a:rPr>
              <a:t>gesture-based controls</a:t>
            </a:r>
            <a:r>
              <a:rPr lang="en-US" sz="3800" dirty="0">
                <a:latin typeface="Times New Roman" panose="02020603050405020304" pitchFamily="18" charset="0"/>
                <a:cs typeface="Times New Roman" panose="02020603050405020304" pitchFamily="18" charset="0"/>
              </a:rPr>
              <a:t>, which could make the communication more private and hands-free.</a:t>
            </a:r>
            <a:br>
              <a:rPr lang="en-US" sz="3800" dirty="0">
                <a:latin typeface="Times New Roman" panose="02020603050405020304" pitchFamily="18" charset="0"/>
                <a:cs typeface="Times New Roman" panose="02020603050405020304" pitchFamily="18" charset="0"/>
              </a:rPr>
            </a:br>
            <a:endParaRPr lang="en-US" sz="38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3800" dirty="0">
                <a:latin typeface="Times New Roman" panose="02020603050405020304" pitchFamily="18" charset="0"/>
                <a:cs typeface="Times New Roman" panose="02020603050405020304" pitchFamily="18" charset="0"/>
              </a:rPr>
              <a:t>Since there is no integration of </a:t>
            </a:r>
            <a:r>
              <a:rPr lang="en-US" sz="3800" b="1" dirty="0">
                <a:latin typeface="Times New Roman" panose="02020603050405020304" pitchFamily="18" charset="0"/>
                <a:cs typeface="Times New Roman" panose="02020603050405020304" pitchFamily="18" charset="0"/>
              </a:rPr>
              <a:t>steganography</a:t>
            </a:r>
            <a:r>
              <a:rPr lang="en-US" sz="3800" dirty="0">
                <a:latin typeface="Times New Roman" panose="02020603050405020304" pitchFamily="18" charset="0"/>
                <a:cs typeface="Times New Roman" panose="02020603050405020304" pitchFamily="18" charset="0"/>
              </a:rPr>
              <a:t> or </a:t>
            </a:r>
            <a:r>
              <a:rPr lang="en-US" sz="3800" b="1" dirty="0">
                <a:latin typeface="Times New Roman" panose="02020603050405020304" pitchFamily="18" charset="0"/>
                <a:cs typeface="Times New Roman" panose="02020603050405020304" pitchFamily="18" charset="0"/>
              </a:rPr>
              <a:t>gesture recognition</a:t>
            </a:r>
            <a:r>
              <a:rPr lang="en-US" sz="3800" dirty="0">
                <a:latin typeface="Times New Roman" panose="02020603050405020304" pitchFamily="18" charset="0"/>
                <a:cs typeface="Times New Roman" panose="02020603050405020304" pitchFamily="18" charset="0"/>
              </a:rPr>
              <a:t>, the level of security remains limited.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5562600" y="30480"/>
            <a:ext cx="4952833" cy="1106200"/>
          </a:xfrm>
          <a:prstGeom prst="rect">
            <a:avLst/>
          </a:prstGeom>
        </p:spPr>
        <p:txBody>
          <a:bodyPr lIns="0" tIns="0" rIns="0" bIns="0" rtlCol="0" anchor="t">
            <a:spAutoFit/>
          </a:bodyPr>
          <a:lstStyle/>
          <a:p>
            <a:pPr algn="l">
              <a:lnSpc>
                <a:spcPts val="8959"/>
              </a:lnSpc>
            </a:pPr>
            <a:r>
              <a:rPr lang="en-US" sz="6399" dirty="0">
                <a:solidFill>
                  <a:srgbClr val="000000"/>
                </a:solidFill>
                <a:latin typeface="DM Serif Display"/>
                <a:ea typeface="DM Serif Display"/>
                <a:cs typeface="DM Serif Display"/>
                <a:sym typeface="DM Serif Display"/>
              </a:rPr>
              <a:t>Limitations</a:t>
            </a: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6</a:t>
            </a:r>
          </a:p>
        </p:txBody>
      </p:sp>
      <p:sp>
        <p:nvSpPr>
          <p:cNvPr id="34" name="TextBox 33"/>
          <p:cNvSpPr txBox="1"/>
          <p:nvPr/>
        </p:nvSpPr>
        <p:spPr>
          <a:xfrm>
            <a:off x="304800" y="1392257"/>
            <a:ext cx="15849600" cy="8694688"/>
          </a:xfrm>
          <a:prstGeom prst="rect">
            <a:avLst/>
          </a:prstGeom>
          <a:noFill/>
        </p:spPr>
        <p:txBody>
          <a:bodyPr wrap="square" rtlCol="0">
            <a:spAutoFit/>
          </a:bodyPr>
          <a:lstStyle/>
          <a:p>
            <a:pPr marL="571500" lvl="0" indent="-571500" eaLnBrk="0" fontAlgn="base" hangingPunct="0">
              <a:spcBef>
                <a:spcPct val="0"/>
              </a:spcBef>
              <a:spcAft>
                <a:spcPct val="0"/>
              </a:spcAft>
              <a:buFont typeface="Wingdings" panose="05000000000000000000" pitchFamily="2" charset="2"/>
              <a:buChar char="Ø"/>
            </a:pPr>
            <a:r>
              <a:rPr lang="en-US" altLang="en-US" sz="4300" dirty="0">
                <a:latin typeface="Times New Roman" panose="02020603050405020304" pitchFamily="18" charset="0"/>
                <a:cs typeface="Times New Roman" panose="02020603050405020304" pitchFamily="18" charset="0"/>
              </a:rPr>
              <a:t>Only Encryption is used, which can still attract attention to the hidden message.</a:t>
            </a:r>
          </a:p>
          <a:p>
            <a:pPr lvl="0" eaLnBrk="0" fontAlgn="base" hangingPunct="0">
              <a:spcBef>
                <a:spcPct val="0"/>
              </a:spcBef>
              <a:spcAft>
                <a:spcPct val="0"/>
              </a:spcAft>
            </a:pPr>
            <a:endParaRPr lang="en-US" altLang="en-US" sz="4300" dirty="0">
              <a:latin typeface="Times New Roman" panose="02020603050405020304" pitchFamily="18" charset="0"/>
              <a:cs typeface="Times New Roman" panose="02020603050405020304" pitchFamily="18" charset="0"/>
            </a:endParaRPr>
          </a:p>
          <a:p>
            <a:pPr marL="571500" lvl="0" indent="-571500" eaLnBrk="0" fontAlgn="base" hangingPunct="0">
              <a:spcBef>
                <a:spcPct val="0"/>
              </a:spcBef>
              <a:spcAft>
                <a:spcPct val="0"/>
              </a:spcAft>
              <a:buFont typeface="Wingdings" panose="05000000000000000000" pitchFamily="2" charset="2"/>
              <a:buChar char="Ø"/>
            </a:pPr>
            <a:r>
              <a:rPr lang="en-US" altLang="en-US" sz="4300" dirty="0">
                <a:latin typeface="Times New Roman" panose="02020603050405020304" pitchFamily="18" charset="0"/>
                <a:cs typeface="Times New Roman" panose="02020603050405020304" pitchFamily="18" charset="0"/>
              </a:rPr>
              <a:t>Hackers can identify and try to break encrypted data.</a:t>
            </a:r>
          </a:p>
          <a:p>
            <a:pPr lvl="0" eaLnBrk="0" fontAlgn="base" hangingPunct="0">
              <a:spcBef>
                <a:spcPct val="0"/>
              </a:spcBef>
              <a:spcAft>
                <a:spcPct val="0"/>
              </a:spcAft>
            </a:pPr>
            <a:endParaRPr lang="en-US" altLang="en-US" sz="4300" dirty="0">
              <a:latin typeface="Times New Roman" panose="02020603050405020304" pitchFamily="18" charset="0"/>
              <a:cs typeface="Times New Roman" panose="02020603050405020304" pitchFamily="18" charset="0"/>
            </a:endParaRPr>
          </a:p>
          <a:p>
            <a:pPr marL="571500" lvl="0" indent="-571500" eaLnBrk="0" fontAlgn="base" hangingPunct="0">
              <a:spcBef>
                <a:spcPct val="0"/>
              </a:spcBef>
              <a:spcAft>
                <a:spcPct val="0"/>
              </a:spcAft>
              <a:buFont typeface="Wingdings" panose="05000000000000000000" pitchFamily="2" charset="2"/>
              <a:buChar char="Ø"/>
            </a:pPr>
            <a:r>
              <a:rPr lang="en-US" altLang="en-US" sz="4300" dirty="0">
                <a:latin typeface="Times New Roman" panose="02020603050405020304" pitchFamily="18" charset="0"/>
                <a:cs typeface="Times New Roman" panose="02020603050405020304" pitchFamily="18" charset="0"/>
              </a:rPr>
              <a:t>No gesture-based or multi-layer security methods.</a:t>
            </a:r>
          </a:p>
          <a:p>
            <a:pPr lvl="0" eaLnBrk="0" fontAlgn="base" hangingPunct="0">
              <a:spcBef>
                <a:spcPct val="0"/>
              </a:spcBef>
              <a:spcAft>
                <a:spcPct val="0"/>
              </a:spcAft>
              <a:buFontTx/>
              <a:buChar char="•"/>
            </a:pPr>
            <a:endParaRPr lang="en-US" altLang="en-US" sz="4300" dirty="0">
              <a:latin typeface="Times New Roman" panose="02020603050405020304" pitchFamily="18" charset="0"/>
              <a:cs typeface="Times New Roman" panose="02020603050405020304" pitchFamily="18" charset="0"/>
            </a:endParaRPr>
          </a:p>
          <a:p>
            <a:pPr marL="571500" lvl="0" indent="-571500" eaLnBrk="0" fontAlgn="base" hangingPunct="0">
              <a:spcBef>
                <a:spcPct val="0"/>
              </a:spcBef>
              <a:spcAft>
                <a:spcPct val="0"/>
              </a:spcAft>
              <a:buFont typeface="Wingdings" panose="05000000000000000000" pitchFamily="2" charset="2"/>
              <a:buChar char="Ø"/>
            </a:pPr>
            <a:r>
              <a:rPr lang="en-US" altLang="en-US" sz="4300" dirty="0">
                <a:latin typeface="Times New Roman" panose="02020603050405020304" pitchFamily="18" charset="0"/>
                <a:cs typeface="Times New Roman" panose="02020603050405020304" pitchFamily="18" charset="0"/>
              </a:rPr>
              <a:t>Risk of data leakage during transmission.</a:t>
            </a:r>
          </a:p>
          <a:p>
            <a:pPr lvl="0" eaLnBrk="0" fontAlgn="base" hangingPunct="0">
              <a:spcBef>
                <a:spcPct val="0"/>
              </a:spcBef>
              <a:spcAft>
                <a:spcPct val="0"/>
              </a:spcAft>
              <a:buFontTx/>
              <a:buChar char="•"/>
            </a:pPr>
            <a:endParaRPr lang="en-US" altLang="en-US" sz="4300" dirty="0">
              <a:latin typeface="Times New Roman" panose="02020603050405020304" pitchFamily="18" charset="0"/>
              <a:cs typeface="Times New Roman" panose="02020603050405020304" pitchFamily="18" charset="0"/>
            </a:endParaRPr>
          </a:p>
          <a:p>
            <a:pPr marL="571500" lvl="0" indent="-571500" eaLnBrk="0" fontAlgn="base" hangingPunct="0">
              <a:spcBef>
                <a:spcPct val="0"/>
              </a:spcBef>
              <a:spcAft>
                <a:spcPct val="0"/>
              </a:spcAft>
              <a:buFont typeface="Wingdings" panose="05000000000000000000" pitchFamily="2" charset="2"/>
              <a:buChar char="Ø"/>
            </a:pPr>
            <a:r>
              <a:rPr lang="en-US" altLang="en-US" sz="4300" dirty="0">
                <a:latin typeface="Times New Roman" panose="02020603050405020304" pitchFamily="18" charset="0"/>
                <a:cs typeface="Times New Roman" panose="02020603050405020304" pitchFamily="18" charset="0"/>
              </a:rPr>
              <a:t>Not suitable for modern, real-time, or user-friendly communication.</a:t>
            </a:r>
          </a:p>
          <a:p>
            <a:pPr lvl="0" eaLnBrk="0" fontAlgn="base" hangingPunct="0">
              <a:spcBef>
                <a:spcPct val="0"/>
              </a:spcBef>
              <a:spcAft>
                <a:spcPct val="0"/>
              </a:spcAft>
              <a:buFontTx/>
              <a:buChar char="•"/>
            </a:pPr>
            <a:endParaRPr lang="en-US" altLang="en-US" sz="4300" dirty="0">
              <a:latin typeface="Times New Roman" panose="02020603050405020304" pitchFamily="18" charset="0"/>
              <a:cs typeface="Times New Roman" panose="02020603050405020304" pitchFamily="18" charset="0"/>
            </a:endParaRPr>
          </a:p>
          <a:p>
            <a:pPr marL="571500" lvl="0" indent="-571500" eaLnBrk="0" fontAlgn="base" hangingPunct="0">
              <a:spcBef>
                <a:spcPct val="0"/>
              </a:spcBef>
              <a:spcAft>
                <a:spcPct val="0"/>
              </a:spcAft>
              <a:buFont typeface="Wingdings" panose="05000000000000000000" pitchFamily="2" charset="2"/>
              <a:buChar char="Ø"/>
            </a:pPr>
            <a:r>
              <a:rPr lang="en-US" altLang="en-US" sz="4300" dirty="0">
                <a:latin typeface="Times New Roman" panose="02020603050405020304" pitchFamily="18" charset="0"/>
                <a:cs typeface="Times New Roman" panose="02020603050405020304" pitchFamily="18" charset="0"/>
              </a:rPr>
              <a:t>Difficult for common users who are not familiar with complex Encryption tools.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4953000" y="-90140"/>
            <a:ext cx="7445029" cy="1057982"/>
          </a:xfrm>
          <a:prstGeom prst="rect">
            <a:avLst/>
          </a:prstGeom>
        </p:spPr>
        <p:txBody>
          <a:bodyPr lIns="0" tIns="0" rIns="0" bIns="0" rtlCol="0" anchor="t">
            <a:spAutoFit/>
          </a:bodyPr>
          <a:lstStyle/>
          <a:p>
            <a:pPr algn="l">
              <a:lnSpc>
                <a:spcPts val="8959"/>
              </a:lnSpc>
            </a:pPr>
            <a:r>
              <a:rPr lang="en-US" sz="6200" b="1" dirty="0">
                <a:solidFill>
                  <a:srgbClr val="000000"/>
                </a:solidFill>
                <a:latin typeface="Times New Roman" panose="02020603050405020304" pitchFamily="18" charset="0"/>
                <a:ea typeface="DM Serif Display"/>
                <a:cs typeface="Times New Roman" panose="02020603050405020304" pitchFamily="18" charset="0"/>
                <a:sym typeface="DM Serif Display"/>
              </a:rPr>
              <a:t>Proposed System</a:t>
            </a: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7</a:t>
            </a:r>
          </a:p>
        </p:txBody>
      </p:sp>
      <p:sp>
        <p:nvSpPr>
          <p:cNvPr id="14" name="TextBox 13"/>
          <p:cNvSpPr txBox="1"/>
          <p:nvPr/>
        </p:nvSpPr>
        <p:spPr>
          <a:xfrm>
            <a:off x="294131" y="967842"/>
            <a:ext cx="15094612" cy="8956298"/>
          </a:xfrm>
          <a:prstGeom prst="rect">
            <a:avLst/>
          </a:prstGeom>
          <a:noFill/>
        </p:spPr>
        <p:txBody>
          <a:bodyPr wrap="square" rtlCol="0">
            <a:spAutoFit/>
          </a:bodyPr>
          <a:lstStyle/>
          <a:p>
            <a:pPr marL="571500" indent="-57150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The system combines </a:t>
            </a:r>
            <a:r>
              <a:rPr lang="en-US" sz="3600" b="1" dirty="0">
                <a:latin typeface="Times New Roman" panose="02020603050405020304" pitchFamily="18" charset="0"/>
                <a:cs typeface="Times New Roman" panose="02020603050405020304" pitchFamily="18" charset="0"/>
              </a:rPr>
              <a:t>gesture recognition</a:t>
            </a:r>
            <a:r>
              <a:rPr lang="en-US" sz="3600" dirty="0">
                <a:latin typeface="Times New Roman" panose="02020603050405020304" pitchFamily="18" charset="0"/>
                <a:cs typeface="Times New Roman" panose="02020603050405020304" pitchFamily="18" charset="0"/>
              </a:rPr>
              <a:t> and </a:t>
            </a:r>
            <a:r>
              <a:rPr lang="en-US" sz="3600" b="1" dirty="0">
                <a:latin typeface="Times New Roman" panose="02020603050405020304" pitchFamily="18" charset="0"/>
                <a:cs typeface="Times New Roman" panose="02020603050405020304" pitchFamily="18" charset="0"/>
              </a:rPr>
              <a:t>steganography</a:t>
            </a:r>
            <a:r>
              <a:rPr lang="en-US" sz="3600" dirty="0">
                <a:latin typeface="Times New Roman" panose="02020603050405020304" pitchFamily="18" charset="0"/>
                <a:cs typeface="Times New Roman" panose="02020603050405020304" pitchFamily="18" charset="0"/>
              </a:rPr>
              <a:t> for secure data communication.</a:t>
            </a: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Users can use </a:t>
            </a:r>
            <a:r>
              <a:rPr lang="en-US" sz="3600" b="1" dirty="0">
                <a:latin typeface="Times New Roman" panose="02020603050405020304" pitchFamily="18" charset="0"/>
                <a:cs typeface="Times New Roman" panose="02020603050405020304" pitchFamily="18" charset="0"/>
              </a:rPr>
              <a:t>hand gestures</a:t>
            </a:r>
            <a:r>
              <a:rPr lang="en-US" sz="3600" dirty="0">
                <a:latin typeface="Times New Roman" panose="02020603050405020304" pitchFamily="18" charset="0"/>
                <a:cs typeface="Times New Roman" panose="02020603050405020304" pitchFamily="18" charset="0"/>
              </a:rPr>
              <a:t> instead of typing passwords or commands.</a:t>
            </a: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Gestures are used to control the </a:t>
            </a:r>
            <a:r>
              <a:rPr lang="en-US" sz="3600" b="1" dirty="0">
                <a:latin typeface="Times New Roman" panose="02020603050405020304" pitchFamily="18" charset="0"/>
                <a:cs typeface="Times New Roman" panose="02020603050405020304" pitchFamily="18" charset="0"/>
              </a:rPr>
              <a:t>encoding (hiding)</a:t>
            </a:r>
            <a:r>
              <a:rPr lang="en-US" sz="3600" dirty="0">
                <a:latin typeface="Times New Roman" panose="02020603050405020304" pitchFamily="18" charset="0"/>
                <a:cs typeface="Times New Roman" panose="02020603050405020304" pitchFamily="18" charset="0"/>
              </a:rPr>
              <a:t> and </a:t>
            </a:r>
            <a:r>
              <a:rPr lang="en-US" sz="3600" b="1" dirty="0">
                <a:latin typeface="Times New Roman" panose="02020603050405020304" pitchFamily="18" charset="0"/>
                <a:cs typeface="Times New Roman" panose="02020603050405020304" pitchFamily="18" charset="0"/>
              </a:rPr>
              <a:t>decoding (revealing)</a:t>
            </a:r>
            <a:r>
              <a:rPr lang="en-US" sz="3600" dirty="0">
                <a:latin typeface="Times New Roman" panose="02020603050405020304" pitchFamily="18" charset="0"/>
                <a:cs typeface="Times New Roman" panose="02020603050405020304" pitchFamily="18" charset="0"/>
              </a:rPr>
              <a:t> of secret information.</a:t>
            </a: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The hidden message is stored inside an </a:t>
            </a:r>
            <a:r>
              <a:rPr lang="en-US" sz="3600" b="1" dirty="0">
                <a:latin typeface="Times New Roman" panose="02020603050405020304" pitchFamily="18" charset="0"/>
                <a:cs typeface="Times New Roman" panose="02020603050405020304" pitchFamily="18" charset="0"/>
              </a:rPr>
              <a:t>image or media file</a:t>
            </a:r>
            <a:r>
              <a:rPr lang="en-US" sz="3600" dirty="0">
                <a:latin typeface="Times New Roman" panose="02020603050405020304" pitchFamily="18" charset="0"/>
                <a:cs typeface="Times New Roman" panose="02020603050405020304" pitchFamily="18" charset="0"/>
              </a:rPr>
              <a:t> using steganography, making it invisible to others.</a:t>
            </a:r>
          </a:p>
          <a:p>
            <a:pPr marL="571500" indent="-571500">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Only </a:t>
            </a:r>
            <a:r>
              <a:rPr lang="en-US" sz="3600" b="1" dirty="0">
                <a:latin typeface="Times New Roman" panose="02020603050405020304" pitchFamily="18" charset="0"/>
                <a:cs typeface="Times New Roman" panose="02020603050405020304" pitchFamily="18" charset="0"/>
              </a:rPr>
              <a:t>authorized users</a:t>
            </a:r>
            <a:r>
              <a:rPr lang="en-US" sz="3600" dirty="0">
                <a:latin typeface="Times New Roman" panose="02020603050405020304" pitchFamily="18" charset="0"/>
                <a:cs typeface="Times New Roman" panose="02020603050405020304" pitchFamily="18" charset="0"/>
              </a:rPr>
              <a:t> who know the correct gesture sequence can access or reveal the hidden data.</a:t>
            </a:r>
          </a:p>
          <a:p>
            <a:pPr marL="571500" indent="-571500">
              <a:buFont typeface="Wingdings" panose="05000000000000000000" pitchFamily="2" charset="2"/>
              <a:buChar char="Ø"/>
            </a:pPr>
            <a:r>
              <a:rPr lang="en-US" sz="3600" b="1" dirty="0">
                <a:latin typeface="Times New Roman" panose="02020603050405020304" pitchFamily="18" charset="0"/>
                <a:cs typeface="Times New Roman" panose="02020603050405020304" pitchFamily="18" charset="0"/>
              </a:rPr>
              <a:t>Two-Layer Protection:</a:t>
            </a:r>
            <a:r>
              <a:rPr lang="en-US" sz="3600" dirty="0">
                <a:latin typeface="Times New Roman" panose="02020603050405020304" pitchFamily="18" charset="0"/>
                <a:cs typeface="Times New Roman" panose="02020603050405020304" pitchFamily="18" charset="0"/>
              </a:rPr>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First Layer:</a:t>
            </a:r>
            <a:r>
              <a:rPr lang="en-US" sz="3600" dirty="0">
                <a:latin typeface="Times New Roman" panose="02020603050405020304" pitchFamily="18" charset="0"/>
                <a:cs typeface="Times New Roman" panose="02020603050405020304" pitchFamily="18" charset="0"/>
              </a:rPr>
              <a:t> Gestures act as an authentication key.</a:t>
            </a:r>
            <a:br>
              <a:rPr lang="en-US" sz="3600"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Second Layer:</a:t>
            </a:r>
            <a:r>
              <a:rPr lang="en-US" sz="3600" dirty="0">
                <a:latin typeface="Times New Roman" panose="02020603050405020304" pitchFamily="18" charset="0"/>
                <a:cs typeface="Times New Roman" panose="02020603050405020304" pitchFamily="18" charset="0"/>
              </a:rPr>
              <a:t> Steganography hides the actual message inside a media file.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4800600" y="-234980"/>
            <a:ext cx="10399168" cy="1106200"/>
          </a:xfrm>
          <a:prstGeom prst="rect">
            <a:avLst/>
          </a:prstGeom>
        </p:spPr>
        <p:txBody>
          <a:bodyPr lIns="0" tIns="0" rIns="0" bIns="0" rtlCol="0" anchor="t">
            <a:spAutoFit/>
          </a:bodyPr>
          <a:lstStyle/>
          <a:p>
            <a:pPr algn="l">
              <a:lnSpc>
                <a:spcPts val="8959"/>
              </a:lnSpc>
            </a:pPr>
            <a:r>
              <a:rPr lang="en-US" sz="6399" b="1" dirty="0">
                <a:solidFill>
                  <a:srgbClr val="000000"/>
                </a:solidFill>
                <a:latin typeface="Times New Roman" panose="02020603050405020304" pitchFamily="18" charset="0"/>
                <a:ea typeface="DM Serif Display"/>
                <a:cs typeface="Times New Roman" panose="02020603050405020304" pitchFamily="18" charset="0"/>
                <a:sym typeface="DM Serif Display"/>
              </a:rPr>
              <a:t>Advantages</a:t>
            </a:r>
            <a:r>
              <a:rPr lang="en-US" sz="6399" dirty="0">
                <a:solidFill>
                  <a:srgbClr val="000000"/>
                </a:solidFill>
                <a:latin typeface="DM Serif Display"/>
                <a:ea typeface="DM Serif Display"/>
                <a:cs typeface="DM Serif Display"/>
                <a:sym typeface="DM Serif Display"/>
              </a:rPr>
              <a:t> </a:t>
            </a:r>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8</a:t>
            </a:r>
          </a:p>
        </p:txBody>
      </p:sp>
      <p:sp>
        <p:nvSpPr>
          <p:cNvPr id="10" name="TextBox 9"/>
          <p:cNvSpPr txBox="1"/>
          <p:nvPr/>
        </p:nvSpPr>
        <p:spPr>
          <a:xfrm>
            <a:off x="1039603" y="1104900"/>
            <a:ext cx="11963400" cy="10033516"/>
          </a:xfrm>
          <a:prstGeom prst="rect">
            <a:avLst/>
          </a:prstGeom>
          <a:noFill/>
        </p:spPr>
        <p:txBody>
          <a:bodyPr wrap="square" rtlCol="0">
            <a:spAutoFit/>
          </a:bodyPr>
          <a:lstStyle/>
          <a:p>
            <a:pPr marL="571500" lvl="0" indent="-571500" eaLnBrk="0" fontAlgn="base" hangingPunct="0">
              <a:spcBef>
                <a:spcPct val="0"/>
              </a:spcBef>
              <a:spcAft>
                <a:spcPct val="0"/>
              </a:spcAft>
              <a:buFont typeface="Wingdings" panose="05000000000000000000" pitchFamily="2" charset="2"/>
              <a:buChar char="Ø"/>
            </a:pPr>
            <a:r>
              <a:rPr lang="en-US" altLang="en-US" sz="3800" dirty="0">
                <a:latin typeface="Times New Roman" panose="02020603050405020304" pitchFamily="18" charset="0"/>
                <a:cs typeface="Times New Roman" panose="02020603050405020304" pitchFamily="18" charset="0"/>
              </a:rPr>
              <a:t>Dual-layer security (gesture + steganography) makes hacking nearly impossible.</a:t>
            </a:r>
          </a:p>
          <a:p>
            <a:pPr marL="571500" lvl="0" indent="-571500" eaLnBrk="0" fontAlgn="base" hangingPunct="0">
              <a:spcBef>
                <a:spcPct val="0"/>
              </a:spcBef>
              <a:spcAft>
                <a:spcPct val="0"/>
              </a:spcAft>
              <a:buFont typeface="Wingdings" panose="05000000000000000000" pitchFamily="2" charset="2"/>
              <a:buChar char="Ø"/>
            </a:pPr>
            <a:endParaRPr lang="en-US" altLang="en-US" sz="3800" dirty="0">
              <a:latin typeface="Times New Roman" panose="02020603050405020304" pitchFamily="18" charset="0"/>
              <a:cs typeface="Times New Roman" panose="02020603050405020304" pitchFamily="18" charset="0"/>
            </a:endParaRPr>
          </a:p>
          <a:p>
            <a:pPr marL="571500" lvl="0" indent="-571500" eaLnBrk="0" fontAlgn="base" hangingPunct="0">
              <a:spcBef>
                <a:spcPct val="0"/>
              </a:spcBef>
              <a:spcAft>
                <a:spcPct val="0"/>
              </a:spcAft>
              <a:buFont typeface="Wingdings" panose="05000000000000000000" pitchFamily="2" charset="2"/>
              <a:buChar char="Ø"/>
            </a:pPr>
            <a:r>
              <a:rPr lang="en-US" altLang="en-US" sz="3800" dirty="0">
                <a:latin typeface="Times New Roman" panose="02020603050405020304" pitchFamily="18" charset="0"/>
                <a:cs typeface="Times New Roman" panose="02020603050405020304" pitchFamily="18" charset="0"/>
              </a:rPr>
              <a:t>Prevents unauthorized access and data detection.</a:t>
            </a:r>
          </a:p>
          <a:p>
            <a:pPr marL="571500" lvl="0" indent="-571500" eaLnBrk="0" fontAlgn="base" hangingPunct="0">
              <a:spcBef>
                <a:spcPct val="0"/>
              </a:spcBef>
              <a:spcAft>
                <a:spcPct val="0"/>
              </a:spcAft>
              <a:buFont typeface="Wingdings" panose="05000000000000000000" pitchFamily="2" charset="2"/>
              <a:buChar char="Ø"/>
            </a:pPr>
            <a:endParaRPr lang="en-US" altLang="en-US" sz="3800" dirty="0">
              <a:latin typeface="Times New Roman" panose="02020603050405020304" pitchFamily="18" charset="0"/>
              <a:cs typeface="Times New Roman" panose="02020603050405020304" pitchFamily="18" charset="0"/>
            </a:endParaRPr>
          </a:p>
          <a:p>
            <a:pPr marL="571500" lvl="0" indent="-571500" eaLnBrk="0" fontAlgn="base" hangingPunct="0">
              <a:spcBef>
                <a:spcPct val="0"/>
              </a:spcBef>
              <a:spcAft>
                <a:spcPct val="0"/>
              </a:spcAft>
              <a:buFont typeface="Wingdings" panose="05000000000000000000" pitchFamily="2" charset="2"/>
              <a:buChar char="Ø"/>
            </a:pPr>
            <a:r>
              <a:rPr lang="en-US" altLang="en-US" sz="3800" dirty="0">
                <a:latin typeface="Times New Roman" panose="02020603050405020304" pitchFamily="18" charset="0"/>
                <a:cs typeface="Times New Roman" panose="02020603050405020304" pitchFamily="18" charset="0"/>
              </a:rPr>
              <a:t>User-friendly, contactless, and interactive communication.</a:t>
            </a:r>
          </a:p>
          <a:p>
            <a:pPr marL="571500" lvl="0" indent="-571500" eaLnBrk="0" fontAlgn="base" hangingPunct="0">
              <a:spcBef>
                <a:spcPct val="0"/>
              </a:spcBef>
              <a:spcAft>
                <a:spcPct val="0"/>
              </a:spcAft>
              <a:buFont typeface="Wingdings" panose="05000000000000000000" pitchFamily="2" charset="2"/>
              <a:buChar char="Ø"/>
            </a:pPr>
            <a:endParaRPr lang="en-US" altLang="en-US" sz="3800" dirty="0">
              <a:latin typeface="Times New Roman" panose="02020603050405020304" pitchFamily="18" charset="0"/>
              <a:cs typeface="Times New Roman" panose="02020603050405020304" pitchFamily="18" charset="0"/>
            </a:endParaRPr>
          </a:p>
          <a:p>
            <a:pPr marL="571500" lvl="0" indent="-571500" eaLnBrk="0" fontAlgn="base" hangingPunct="0">
              <a:spcBef>
                <a:spcPct val="0"/>
              </a:spcBef>
              <a:spcAft>
                <a:spcPct val="0"/>
              </a:spcAft>
              <a:buFont typeface="Wingdings" panose="05000000000000000000" pitchFamily="2" charset="2"/>
              <a:buChar char="Ø"/>
            </a:pPr>
            <a:r>
              <a:rPr lang="en-US" altLang="en-US" sz="3800" dirty="0">
                <a:latin typeface="Times New Roman" panose="02020603050405020304" pitchFamily="18" charset="0"/>
                <a:cs typeface="Times New Roman" panose="02020603050405020304" pitchFamily="18" charset="0"/>
              </a:rPr>
              <a:t>Reduces risk of brute-force or phishing attacks.</a:t>
            </a:r>
          </a:p>
          <a:p>
            <a:pPr marL="571500" lvl="0" indent="-571500" eaLnBrk="0" fontAlgn="base" hangingPunct="0">
              <a:spcBef>
                <a:spcPct val="0"/>
              </a:spcBef>
              <a:spcAft>
                <a:spcPct val="0"/>
              </a:spcAft>
              <a:buFont typeface="Wingdings" panose="05000000000000000000" pitchFamily="2" charset="2"/>
              <a:buChar char="Ø"/>
            </a:pPr>
            <a:endParaRPr lang="en-US" altLang="en-US" sz="3800" dirty="0">
              <a:latin typeface="Times New Roman" panose="02020603050405020304" pitchFamily="18" charset="0"/>
              <a:cs typeface="Times New Roman" panose="02020603050405020304" pitchFamily="18" charset="0"/>
            </a:endParaRPr>
          </a:p>
          <a:p>
            <a:pPr marL="571500" lvl="0" indent="-571500" eaLnBrk="0" fontAlgn="base" hangingPunct="0">
              <a:spcBef>
                <a:spcPct val="0"/>
              </a:spcBef>
              <a:spcAft>
                <a:spcPct val="0"/>
              </a:spcAft>
              <a:buFont typeface="Wingdings" panose="05000000000000000000" pitchFamily="2" charset="2"/>
              <a:buChar char="Ø"/>
            </a:pPr>
            <a:r>
              <a:rPr lang="en-US" altLang="en-US" sz="3800" dirty="0">
                <a:latin typeface="Times New Roman" panose="02020603050405020304" pitchFamily="18" charset="0"/>
                <a:cs typeface="Times New Roman" panose="02020603050405020304" pitchFamily="18" charset="0"/>
              </a:rPr>
              <a:t>Works with different file formats like images, videos, or audio.</a:t>
            </a:r>
          </a:p>
          <a:p>
            <a:pPr marL="571500" lvl="0" indent="-571500" eaLnBrk="0" fontAlgn="base" hangingPunct="0">
              <a:spcBef>
                <a:spcPct val="0"/>
              </a:spcBef>
              <a:spcAft>
                <a:spcPct val="0"/>
              </a:spcAft>
              <a:buFont typeface="Wingdings" panose="05000000000000000000" pitchFamily="2" charset="2"/>
              <a:buChar char="Ø"/>
            </a:pPr>
            <a:endParaRPr lang="en-US" altLang="en-US" sz="3800" dirty="0">
              <a:latin typeface="Times New Roman" panose="02020603050405020304" pitchFamily="18" charset="0"/>
              <a:cs typeface="Times New Roman" panose="02020603050405020304" pitchFamily="18" charset="0"/>
            </a:endParaRPr>
          </a:p>
          <a:p>
            <a:pPr marL="571500" lvl="0" indent="-571500" eaLnBrk="0" fontAlgn="base" hangingPunct="0">
              <a:spcBef>
                <a:spcPct val="0"/>
              </a:spcBef>
              <a:spcAft>
                <a:spcPct val="0"/>
              </a:spcAft>
              <a:buFont typeface="Wingdings" panose="05000000000000000000" pitchFamily="2" charset="2"/>
              <a:buChar char="Ø"/>
            </a:pPr>
            <a:r>
              <a:rPr lang="en-US" altLang="en-US" sz="3800" dirty="0">
                <a:latin typeface="Times New Roman" panose="02020603050405020304" pitchFamily="18" charset="0"/>
                <a:cs typeface="Times New Roman" panose="02020603050405020304" pitchFamily="18" charset="0"/>
              </a:rPr>
              <a:t>Less data loss, fast processing, and minimal storage usage.</a:t>
            </a:r>
          </a:p>
          <a:p>
            <a:pPr marL="571500" lvl="0" indent="-571500" eaLnBrk="0" fontAlgn="base" hangingPunct="0">
              <a:spcBef>
                <a:spcPct val="0"/>
              </a:spcBef>
              <a:spcAft>
                <a:spcPct val="0"/>
              </a:spcAft>
              <a:buFont typeface="Wingdings" panose="05000000000000000000" pitchFamily="2" charset="2"/>
              <a:buChar char="Ø"/>
            </a:pPr>
            <a:endParaRPr lang="en-US" altLang="en-US" sz="3800" dirty="0">
              <a:latin typeface="Times New Roman" panose="02020603050405020304" pitchFamily="18" charset="0"/>
              <a:cs typeface="Times New Roman" panose="02020603050405020304" pitchFamily="18" charset="0"/>
            </a:endParaRPr>
          </a:p>
          <a:p>
            <a:pPr marL="571500" lvl="0" indent="-571500" eaLnBrk="0" fontAlgn="base" hangingPunct="0">
              <a:spcBef>
                <a:spcPct val="0"/>
              </a:spcBef>
              <a:spcAft>
                <a:spcPct val="0"/>
              </a:spcAft>
              <a:buFont typeface="Wingdings" panose="05000000000000000000" pitchFamily="2" charset="2"/>
              <a:buChar char="Ø"/>
            </a:pPr>
            <a:r>
              <a:rPr lang="en-US" altLang="en-US" sz="3800" dirty="0">
                <a:latin typeface="Times New Roman" panose="02020603050405020304" pitchFamily="18" charset="0"/>
                <a:cs typeface="Times New Roman" panose="02020603050405020304" pitchFamily="18" charset="0"/>
              </a:rPr>
              <a:t>Suitable for modern AI-driven security applications.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38100" y="403741"/>
            <a:ext cx="14302201" cy="9479518"/>
          </a:xfrm>
          <a:prstGeom prst="rect">
            <a:avLst/>
          </a:prstGeom>
        </p:spPr>
        <p:txBody>
          <a:bodyPr wrap="square" lIns="0" tIns="0" rIns="0" bIns="0" rtlCol="0" anchor="t">
            <a:spAutoFit/>
          </a:bodyPr>
          <a:lstStyle/>
          <a:p>
            <a:r>
              <a:rPr lang="en-US" sz="3200" b="1" dirty="0"/>
              <a:t>                 </a:t>
            </a:r>
            <a:r>
              <a:rPr lang="en-US" sz="3200" b="1" dirty="0">
                <a:latin typeface="Times New Roman" panose="02020603050405020304" pitchFamily="18" charset="0"/>
                <a:cs typeface="Times New Roman" panose="02020603050405020304" pitchFamily="18" charset="0"/>
              </a:rPr>
              <a:t>   </a:t>
            </a:r>
            <a:r>
              <a:rPr lang="en-US" sz="4800" b="1" dirty="0">
                <a:latin typeface="Times New Roman" panose="02020603050405020304" pitchFamily="18" charset="0"/>
                <a:cs typeface="Times New Roman" panose="02020603050405020304" pitchFamily="18" charset="0"/>
              </a:rPr>
              <a:t>System Requirement Specification (SRS)</a:t>
            </a:r>
          </a:p>
          <a:p>
            <a:endParaRPr lang="en-US" sz="3600" b="1"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Ø"/>
            </a:pPr>
            <a:r>
              <a:rPr lang="en-US" sz="3800" b="1" dirty="0">
                <a:latin typeface="Times New Roman" panose="02020603050405020304" pitchFamily="18" charset="0"/>
                <a:cs typeface="Times New Roman" panose="02020603050405020304" pitchFamily="18" charset="0"/>
              </a:rPr>
              <a:t>Functional Requirements</a:t>
            </a:r>
          </a:p>
          <a:p>
            <a:pPr marL="1371600" lvl="2" indent="-4572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The system should detect and recognize user hand gestures.</a:t>
            </a:r>
          </a:p>
          <a:p>
            <a:pPr marL="1371600" lvl="2" indent="-4572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The system should allow users to hide secret data inside media files.</a:t>
            </a:r>
          </a:p>
          <a:p>
            <a:pPr marL="1371600" lvl="2" indent="-4572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The system should extract hidden data only after correct gesture authentication.</a:t>
            </a:r>
          </a:p>
          <a:p>
            <a:pPr marL="1371600" lvl="2" indent="-4572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The system should store and manage user inputs securely.</a:t>
            </a:r>
          </a:p>
          <a:p>
            <a:pPr marL="1371600" lvl="2" indent="-4572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The system should support image-based steganography.</a:t>
            </a:r>
          </a:p>
          <a:p>
            <a:pPr lvl="1"/>
            <a:r>
              <a:rPr lang="en-US" sz="3800" b="1" dirty="0">
                <a:latin typeface="Times New Roman" panose="02020603050405020304" pitchFamily="18" charset="0"/>
                <a:cs typeface="Times New Roman" panose="02020603050405020304" pitchFamily="18" charset="0"/>
              </a:rPr>
              <a:t>Non-Functional Requirements</a:t>
            </a:r>
          </a:p>
          <a:p>
            <a:pPr marL="1485900" lvl="2" indent="-5715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The system should provide high security and reliability.</a:t>
            </a:r>
          </a:p>
          <a:p>
            <a:pPr marL="1371600" lvl="2" indent="-4572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The response time should be fast and efficient.</a:t>
            </a:r>
          </a:p>
          <a:p>
            <a:pPr marL="1371600" lvl="2" indent="-4572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The system should be user-friendly and easy to operate.</a:t>
            </a:r>
          </a:p>
          <a:p>
            <a:pPr marL="1371600" lvl="2" indent="-4572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The system should ensure data privacy and integrity.</a:t>
            </a:r>
          </a:p>
          <a:p>
            <a:pPr marL="1371600" lvl="2" indent="-4572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The system should be scalable for future enhancements.</a:t>
            </a:r>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8</a:t>
            </a:r>
          </a:p>
        </p:txBody>
      </p:sp>
      <p:sp>
        <p:nvSpPr>
          <p:cNvPr id="10" name="TextBox 9"/>
          <p:cNvSpPr txBox="1"/>
          <p:nvPr/>
        </p:nvSpPr>
        <p:spPr>
          <a:xfrm>
            <a:off x="1867578" y="2804046"/>
            <a:ext cx="11963400" cy="646331"/>
          </a:xfrm>
          <a:prstGeom prst="rect">
            <a:avLst/>
          </a:prstGeom>
          <a:noFill/>
        </p:spPr>
        <p:txBody>
          <a:bodyPr wrap="square" rtlCol="0">
            <a:spAutoFit/>
          </a:bodyPr>
          <a:lstStyle/>
          <a:p>
            <a:pPr lvl="0" eaLnBrk="0" fontAlgn="base" hangingPunct="0">
              <a:spcBef>
                <a:spcPct val="0"/>
              </a:spcBef>
              <a:spcAft>
                <a:spcPct val="0"/>
              </a:spcAft>
            </a:pPr>
            <a:endParaRPr lang="en-US" alt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0448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600200" y="443327"/>
            <a:ext cx="10399168" cy="1106200"/>
          </a:xfrm>
          <a:prstGeom prst="rect">
            <a:avLst/>
          </a:prstGeom>
        </p:spPr>
        <p:txBody>
          <a:bodyPr lIns="0" tIns="0" rIns="0" bIns="0" rtlCol="0" anchor="t">
            <a:spAutoFit/>
          </a:bodyPr>
          <a:lstStyle/>
          <a:p>
            <a:pPr algn="l">
              <a:lnSpc>
                <a:spcPts val="8959"/>
              </a:lnSpc>
            </a:pPr>
            <a:r>
              <a:rPr lang="en-US" sz="6399" dirty="0">
                <a:solidFill>
                  <a:srgbClr val="000000"/>
                </a:solidFill>
                <a:latin typeface="DM Serif Display"/>
                <a:ea typeface="DM Serif Display"/>
                <a:cs typeface="DM Serif Display"/>
                <a:sym typeface="DM Serif Display"/>
              </a:rPr>
              <a:t>Software Requirements</a:t>
            </a:r>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9</a:t>
            </a:r>
          </a:p>
        </p:txBody>
      </p:sp>
      <p:sp>
        <p:nvSpPr>
          <p:cNvPr id="16" name="TextBox 15"/>
          <p:cNvSpPr txBox="1"/>
          <p:nvPr/>
        </p:nvSpPr>
        <p:spPr>
          <a:xfrm>
            <a:off x="685800" y="2400300"/>
            <a:ext cx="12985325" cy="3046988"/>
          </a:xfrm>
          <a:prstGeom prst="rect">
            <a:avLst/>
          </a:prstGeom>
          <a:noFill/>
        </p:spPr>
        <p:txBody>
          <a:bodyPr wrap="square" rtlCol="0">
            <a:spAutoFit/>
          </a:bodyPr>
          <a:lstStyle/>
          <a:p>
            <a:pPr marL="685800" indent="-685800">
              <a:buFont typeface="Wingdings" panose="05000000000000000000" pitchFamily="2" charset="2"/>
              <a:buChar char="§"/>
            </a:pPr>
            <a:r>
              <a:rPr lang="en-IN" sz="4800" dirty="0">
                <a:latin typeface="Times New Roman" panose="02020603050405020304" pitchFamily="18" charset="0"/>
                <a:cs typeface="Times New Roman" panose="02020603050405020304" pitchFamily="18" charset="0"/>
              </a:rPr>
              <a:t>Programming Language: Python</a:t>
            </a:r>
          </a:p>
          <a:p>
            <a:pPr marL="685800" indent="-685800">
              <a:buFont typeface="Wingdings" panose="05000000000000000000" pitchFamily="2" charset="2"/>
              <a:buChar char="§"/>
            </a:pPr>
            <a:r>
              <a:rPr lang="en-IN" sz="4800" dirty="0">
                <a:latin typeface="Times New Roman" panose="02020603050405020304" pitchFamily="18" charset="0"/>
                <a:cs typeface="Times New Roman" panose="02020603050405020304" pitchFamily="18" charset="0"/>
              </a:rPr>
              <a:t>Libraries: OpenCV, NumPy, Matplotlib, Tkinter</a:t>
            </a:r>
          </a:p>
          <a:p>
            <a:pPr marL="685800" indent="-685800">
              <a:buFont typeface="Wingdings" panose="05000000000000000000" pitchFamily="2" charset="2"/>
              <a:buChar char="§"/>
            </a:pPr>
            <a:r>
              <a:rPr lang="en-IN" sz="4800" dirty="0">
                <a:latin typeface="Times New Roman" panose="02020603050405020304" pitchFamily="18" charset="0"/>
                <a:cs typeface="Times New Roman" panose="02020603050405020304" pitchFamily="18" charset="0"/>
              </a:rPr>
              <a:t>Database: MySQL or SQLite</a:t>
            </a:r>
          </a:p>
          <a:p>
            <a:pPr marL="685800" indent="-685800">
              <a:buFont typeface="Wingdings" panose="05000000000000000000" pitchFamily="2" charset="2"/>
              <a:buChar char="§"/>
            </a:pPr>
            <a:r>
              <a:rPr lang="en-IN" sz="4800" dirty="0">
                <a:latin typeface="Times New Roman" panose="02020603050405020304" pitchFamily="18" charset="0"/>
                <a:cs typeface="Times New Roman" panose="02020603050405020304" pitchFamily="18" charset="0"/>
              </a:rPr>
              <a:t>IDE: Jupyter Notebook / Visual Studio Code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2133600" y="342900"/>
            <a:ext cx="10399168" cy="1106200"/>
          </a:xfrm>
          <a:prstGeom prst="rect">
            <a:avLst/>
          </a:prstGeom>
        </p:spPr>
        <p:txBody>
          <a:bodyPr lIns="0" tIns="0" rIns="0" bIns="0" rtlCol="0" anchor="t">
            <a:spAutoFit/>
          </a:bodyPr>
          <a:lstStyle/>
          <a:p>
            <a:pPr algn="l">
              <a:lnSpc>
                <a:spcPts val="8959"/>
              </a:lnSpc>
            </a:pPr>
            <a:r>
              <a:rPr lang="en-US" sz="6399" dirty="0">
                <a:solidFill>
                  <a:srgbClr val="000000"/>
                </a:solidFill>
                <a:latin typeface="DM Serif Display"/>
                <a:ea typeface="DM Serif Display"/>
                <a:cs typeface="DM Serif Display"/>
                <a:sym typeface="DM Serif Display"/>
              </a:rPr>
              <a:t>Hardware Requirements</a:t>
            </a: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10</a:t>
            </a:r>
          </a:p>
        </p:txBody>
      </p:sp>
      <p:sp>
        <p:nvSpPr>
          <p:cNvPr id="21" name="TextBox 20"/>
          <p:cNvSpPr txBox="1"/>
          <p:nvPr/>
        </p:nvSpPr>
        <p:spPr>
          <a:xfrm>
            <a:off x="1143000" y="2281178"/>
            <a:ext cx="9525000" cy="4154984"/>
          </a:xfrm>
          <a:prstGeom prst="rect">
            <a:avLst/>
          </a:prstGeom>
          <a:noFill/>
        </p:spPr>
        <p:txBody>
          <a:bodyPr wrap="square" rtlCol="0">
            <a:spAutoFit/>
          </a:bodyPr>
          <a:lstStyle/>
          <a:p>
            <a:r>
              <a:rPr lang="en-US" sz="4400" dirty="0">
                <a:latin typeface="Times New Roman" panose="02020603050405020304" pitchFamily="18" charset="0"/>
                <a:cs typeface="Times New Roman" panose="02020603050405020304" pitchFamily="18" charset="0"/>
              </a:rPr>
              <a:t>Hardware Requirements</a:t>
            </a:r>
          </a:p>
          <a:p>
            <a:pPr marL="571500" indent="-571500">
              <a:buFont typeface="Wingdings" panose="05000000000000000000" pitchFamily="2" charset="2"/>
              <a:buChar char="§"/>
            </a:pPr>
            <a:r>
              <a:rPr lang="en-US" sz="4400" dirty="0">
                <a:latin typeface="Times New Roman" panose="02020603050405020304" pitchFamily="18" charset="0"/>
                <a:cs typeface="Times New Roman" panose="02020603050405020304" pitchFamily="18" charset="0"/>
              </a:rPr>
              <a:t> System: Intel i5 Processor or above</a:t>
            </a:r>
          </a:p>
          <a:p>
            <a:pPr marL="571500" indent="-571500">
              <a:buFont typeface="Wingdings" panose="05000000000000000000" pitchFamily="2" charset="2"/>
              <a:buChar char="§"/>
            </a:pPr>
            <a:r>
              <a:rPr lang="en-US" sz="4400" dirty="0">
                <a:latin typeface="Times New Roman" panose="02020603050405020304" pitchFamily="18" charset="0"/>
                <a:cs typeface="Times New Roman" panose="02020603050405020304" pitchFamily="18" charset="0"/>
              </a:rPr>
              <a:t>RAM: Minimum 4 GB</a:t>
            </a:r>
          </a:p>
          <a:p>
            <a:pPr marL="571500" indent="-571500">
              <a:buFont typeface="Wingdings" panose="05000000000000000000" pitchFamily="2" charset="2"/>
              <a:buChar char="§"/>
            </a:pPr>
            <a:r>
              <a:rPr lang="en-US" sz="4400" dirty="0">
                <a:latin typeface="Times New Roman" panose="02020603050405020304" pitchFamily="18" charset="0"/>
                <a:cs typeface="Times New Roman" panose="02020603050405020304" pitchFamily="18" charset="0"/>
              </a:rPr>
              <a:t>Webcam or external camera for gesture detection</a:t>
            </a:r>
          </a:p>
          <a:p>
            <a:pPr marL="571500" indent="-571500">
              <a:buFont typeface="Wingdings" panose="05000000000000000000" pitchFamily="2" charset="2"/>
              <a:buChar char="§"/>
            </a:pPr>
            <a:r>
              <a:rPr lang="en-US" sz="4400" dirty="0">
                <a:latin typeface="Times New Roman" panose="02020603050405020304" pitchFamily="18" charset="0"/>
                <a:cs typeface="Times New Roman" panose="02020603050405020304" pitchFamily="18" charset="0"/>
              </a:rPr>
              <a:t>Storage: Minimum 500 MB free space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09600" y="800100"/>
            <a:ext cx="6019800" cy="1015663"/>
          </a:xfrm>
          <a:prstGeom prst="rect">
            <a:avLst/>
          </a:prstGeom>
          <a:noFill/>
        </p:spPr>
        <p:txBody>
          <a:bodyPr wrap="square" rtlCol="0">
            <a:spAutoFit/>
          </a:bodyPr>
          <a:lstStyle/>
          <a:p>
            <a:r>
              <a:rPr lang="en-US" sz="6000" dirty="0">
                <a:latin typeface="DM Serif Display" panose="020B0604020202020204" charset="0"/>
              </a:rPr>
              <a:t>Conclusion</a:t>
            </a:r>
            <a:endParaRPr lang="en-IN" dirty="0">
              <a:latin typeface="DM Serif Display" panose="020B0604020202020204" charset="0"/>
            </a:endParaRPr>
          </a:p>
        </p:txBody>
      </p:sp>
      <p:sp>
        <p:nvSpPr>
          <p:cNvPr id="7" name="TextBox 6"/>
          <p:cNvSpPr txBox="1"/>
          <p:nvPr/>
        </p:nvSpPr>
        <p:spPr>
          <a:xfrm>
            <a:off x="228600" y="2095500"/>
            <a:ext cx="14706600" cy="6863417"/>
          </a:xfrm>
          <a:prstGeom prst="rect">
            <a:avLst/>
          </a:prstGeom>
          <a:noFill/>
        </p:spPr>
        <p:txBody>
          <a:bodyPr wrap="square" rtlCol="0">
            <a:spAutoFit/>
          </a:bodyPr>
          <a:lstStyle/>
          <a:p>
            <a:pPr algn="just"/>
            <a:r>
              <a:rPr lang="en-US" sz="4400" dirty="0">
                <a:latin typeface="Times New Roman" panose="02020603050405020304" pitchFamily="18" charset="0"/>
                <a:cs typeface="Times New Roman" panose="02020603050405020304" pitchFamily="18" charset="0"/>
              </a:rPr>
              <a:t>The proposed system successfully combines </a:t>
            </a:r>
            <a:r>
              <a:rPr lang="en-US" sz="4400" b="1" dirty="0">
                <a:latin typeface="Times New Roman" panose="02020603050405020304" pitchFamily="18" charset="0"/>
                <a:cs typeface="Times New Roman" panose="02020603050405020304" pitchFamily="18" charset="0"/>
              </a:rPr>
              <a:t>gesture recognition</a:t>
            </a:r>
            <a:r>
              <a:rPr lang="en-US" sz="4400" dirty="0">
                <a:latin typeface="Times New Roman" panose="02020603050405020304" pitchFamily="18" charset="0"/>
                <a:cs typeface="Times New Roman" panose="02020603050405020304" pitchFamily="18" charset="0"/>
              </a:rPr>
              <a:t> and </a:t>
            </a:r>
            <a:r>
              <a:rPr lang="en-US" sz="4400" b="1" dirty="0">
                <a:latin typeface="Times New Roman" panose="02020603050405020304" pitchFamily="18" charset="0"/>
                <a:cs typeface="Times New Roman" panose="02020603050405020304" pitchFamily="18" charset="0"/>
              </a:rPr>
              <a:t>steganography</a:t>
            </a:r>
            <a:r>
              <a:rPr lang="en-US" sz="4400" dirty="0">
                <a:latin typeface="Times New Roman" panose="02020603050405020304" pitchFamily="18" charset="0"/>
                <a:cs typeface="Times New Roman" panose="02020603050405020304" pitchFamily="18" charset="0"/>
              </a:rPr>
              <a:t> to create a </a:t>
            </a:r>
            <a:r>
              <a:rPr lang="en-US" sz="4400" b="1" dirty="0">
                <a:latin typeface="Times New Roman" panose="02020603050405020304" pitchFamily="18" charset="0"/>
                <a:cs typeface="Times New Roman" panose="02020603050405020304" pitchFamily="18" charset="0"/>
              </a:rPr>
              <a:t>secure and innovative communication platform</a:t>
            </a:r>
            <a:r>
              <a:rPr lang="en-US" sz="4400" dirty="0">
                <a:latin typeface="Times New Roman" panose="02020603050405020304" pitchFamily="18" charset="0"/>
                <a:cs typeface="Times New Roman" panose="02020603050405020304" pitchFamily="18" charset="0"/>
              </a:rPr>
              <a:t>. By using </a:t>
            </a:r>
            <a:r>
              <a:rPr lang="en-US" sz="4400" b="1" dirty="0">
                <a:latin typeface="Times New Roman" panose="02020603050405020304" pitchFamily="18" charset="0"/>
                <a:cs typeface="Times New Roman" panose="02020603050405020304" pitchFamily="18" charset="0"/>
              </a:rPr>
              <a:t>hand gestures</a:t>
            </a:r>
            <a:r>
              <a:rPr lang="en-US" sz="4400" dirty="0">
                <a:latin typeface="Times New Roman" panose="02020603050405020304" pitchFamily="18" charset="0"/>
                <a:cs typeface="Times New Roman" panose="02020603050405020304" pitchFamily="18" charset="0"/>
              </a:rPr>
              <a:t> for authentication and </a:t>
            </a:r>
            <a:r>
              <a:rPr lang="en-US" sz="4400" b="1" dirty="0">
                <a:latin typeface="Times New Roman" panose="02020603050405020304" pitchFamily="18" charset="0"/>
                <a:cs typeface="Times New Roman" panose="02020603050405020304" pitchFamily="18" charset="0"/>
              </a:rPr>
              <a:t>data hiding</a:t>
            </a:r>
            <a:r>
              <a:rPr lang="en-US" sz="4400" dirty="0">
                <a:latin typeface="Times New Roman" panose="02020603050405020304" pitchFamily="18" charset="0"/>
                <a:cs typeface="Times New Roman" panose="02020603050405020304" pitchFamily="18" charset="0"/>
              </a:rPr>
              <a:t> within media files, it ensures a </a:t>
            </a:r>
            <a:r>
              <a:rPr lang="en-US" sz="4400" b="1" dirty="0">
                <a:latin typeface="Times New Roman" panose="02020603050405020304" pitchFamily="18" charset="0"/>
                <a:cs typeface="Times New Roman" panose="02020603050405020304" pitchFamily="18" charset="0"/>
              </a:rPr>
              <a:t>dual-layer protection mechanism</a:t>
            </a:r>
            <a:r>
              <a:rPr lang="en-US" sz="4400" dirty="0">
                <a:latin typeface="Times New Roman" panose="02020603050405020304" pitchFamily="18" charset="0"/>
                <a:cs typeface="Times New Roman" panose="02020603050405020304" pitchFamily="18" charset="0"/>
              </a:rPr>
              <a:t> that enhances both </a:t>
            </a:r>
            <a:r>
              <a:rPr lang="en-US" sz="4400" b="1" dirty="0">
                <a:latin typeface="Times New Roman" panose="02020603050405020304" pitchFamily="18" charset="0"/>
                <a:cs typeface="Times New Roman" panose="02020603050405020304" pitchFamily="18" charset="0"/>
              </a:rPr>
              <a:t>privacy and usability</a:t>
            </a:r>
            <a:r>
              <a:rPr lang="en-US" sz="4400" dirty="0">
                <a:latin typeface="Times New Roman" panose="02020603050405020304" pitchFamily="18" charset="0"/>
                <a:cs typeface="Times New Roman" panose="02020603050405020304" pitchFamily="18" charset="0"/>
              </a:rPr>
              <a:t>. This approach not only prevents unauthorized access but also makes communication </a:t>
            </a:r>
            <a:r>
              <a:rPr lang="en-US" sz="4400" b="1" dirty="0">
                <a:latin typeface="Times New Roman" panose="02020603050405020304" pitchFamily="18" charset="0"/>
                <a:cs typeface="Times New Roman" panose="02020603050405020304" pitchFamily="18" charset="0"/>
              </a:rPr>
              <a:t>contactless, intelligent, and efficient</a:t>
            </a:r>
            <a:r>
              <a:rPr lang="en-US" sz="4400" dirty="0">
                <a:latin typeface="Times New Roman" panose="02020603050405020304" pitchFamily="18" charset="0"/>
                <a:cs typeface="Times New Roman" panose="02020603050405020304" pitchFamily="18" charset="0"/>
              </a:rPr>
              <a:t>. Overall, it provides a </a:t>
            </a:r>
            <a:r>
              <a:rPr lang="en-US" sz="4400" b="1" dirty="0">
                <a:latin typeface="Times New Roman" panose="02020603050405020304" pitchFamily="18" charset="0"/>
                <a:cs typeface="Times New Roman" panose="02020603050405020304" pitchFamily="18" charset="0"/>
              </a:rPr>
              <a:t>modern, user-friendly, and robust solution</a:t>
            </a:r>
            <a:r>
              <a:rPr lang="en-US" sz="4400" dirty="0">
                <a:latin typeface="Times New Roman" panose="02020603050405020304" pitchFamily="18" charset="0"/>
                <a:cs typeface="Times New Roman" panose="02020603050405020304" pitchFamily="18" charset="0"/>
              </a:rPr>
              <a:t> for secure data transmission in today’s digital world.</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6224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3"/>
          <p:cNvSpPr txBox="1"/>
          <p:nvPr/>
        </p:nvSpPr>
        <p:spPr>
          <a:xfrm>
            <a:off x="4485814" y="2762204"/>
            <a:ext cx="9316373" cy="2453640"/>
          </a:xfrm>
          <a:prstGeom prst="rect">
            <a:avLst/>
          </a:prstGeom>
        </p:spPr>
        <p:txBody>
          <a:bodyPr lIns="0" tIns="0" rIns="0" bIns="0" rtlCol="0" anchor="t">
            <a:spAutoFit/>
          </a:bodyPr>
          <a:lstStyle/>
          <a:p>
            <a:pPr algn="ctr">
              <a:lnSpc>
                <a:spcPts val="20160"/>
              </a:lnSpc>
            </a:pPr>
            <a:r>
              <a:rPr lang="en-US" sz="14400">
                <a:solidFill>
                  <a:srgbClr val="000000"/>
                </a:solidFill>
                <a:latin typeface="DM Serif Display"/>
                <a:ea typeface="DM Serif Display"/>
                <a:cs typeface="DM Serif Display"/>
                <a:sym typeface="DM Serif Display"/>
              </a:rPr>
              <a:t>The End</a:t>
            </a:r>
          </a:p>
        </p:txBody>
      </p:sp>
      <p:sp>
        <p:nvSpPr>
          <p:cNvPr id="4" name="TextBox 4"/>
          <p:cNvSpPr txBox="1"/>
          <p:nvPr/>
        </p:nvSpPr>
        <p:spPr>
          <a:xfrm>
            <a:off x="4180543" y="5328331"/>
            <a:ext cx="9926914" cy="405765"/>
          </a:xfrm>
          <a:prstGeom prst="rect">
            <a:avLst/>
          </a:prstGeom>
        </p:spPr>
        <p:txBody>
          <a:bodyPr lIns="0" tIns="0" rIns="0" bIns="0" rtlCol="0" anchor="t">
            <a:spAutoFit/>
          </a:bodyPr>
          <a:lstStyle/>
          <a:p>
            <a:pPr algn="ctr">
              <a:lnSpc>
                <a:spcPts val="3359"/>
              </a:lnSpc>
              <a:spcBef>
                <a:spcPct val="0"/>
              </a:spcBef>
            </a:pPr>
            <a:r>
              <a:rPr lang="en-US" sz="2400" spc="240">
                <a:solidFill>
                  <a:srgbClr val="000000"/>
                </a:solidFill>
                <a:latin typeface="Open Sauce"/>
                <a:ea typeface="Open Sauce"/>
                <a:cs typeface="Open Sauce"/>
                <a:sym typeface="Open Sauce"/>
              </a:rPr>
              <a:t>THANK YOU FOR LISTENING</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Face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544</TotalTime>
  <Words>834</Words>
  <Application>Microsoft Office PowerPoint</Application>
  <PresentationFormat>Custom</PresentationFormat>
  <Paragraphs>141</Paragraphs>
  <Slides>16</Slides>
  <Notes>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Open Sauce</vt:lpstr>
      <vt:lpstr>Wingdings 3</vt:lpstr>
      <vt:lpstr>Times New Roman</vt:lpstr>
      <vt:lpstr>Arial</vt:lpstr>
      <vt:lpstr>Trebuchet MS</vt:lpstr>
      <vt:lpstr>Wingdings</vt:lpstr>
      <vt:lpstr>Calibri</vt:lpstr>
      <vt:lpstr>DM Serif Display</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 KRISHNA</dc:creator>
  <cp:lastModifiedBy>DELL</cp:lastModifiedBy>
  <cp:revision>49</cp:revision>
  <dcterms:created xsi:type="dcterms:W3CDTF">2006-08-16T00:00:00Z</dcterms:created>
  <dcterms:modified xsi:type="dcterms:W3CDTF">2026-02-06T16:32:30Z</dcterms:modified>
  <dc:identifier>DAG2_UvGkzQ</dc:identifier>
</cp:coreProperties>
</file>