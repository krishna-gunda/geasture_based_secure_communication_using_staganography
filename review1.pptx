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29" r:id="rId1"/>
  </p:sldMasterIdLst>
  <p:notesMasterIdLst>
    <p:notesMasterId r:id="rId18"/>
  </p:notesMasterIdLst>
  <p:sldIdLst>
    <p:sldId id="256" r:id="rId2"/>
    <p:sldId id="257" r:id="rId3"/>
    <p:sldId id="258" r:id="rId4"/>
    <p:sldId id="259" r:id="rId5"/>
    <p:sldId id="269" r:id="rId6"/>
    <p:sldId id="271" r:id="rId7"/>
    <p:sldId id="273" r:id="rId8"/>
    <p:sldId id="260" r:id="rId9"/>
    <p:sldId id="261" r:id="rId10"/>
    <p:sldId id="262" r:id="rId11"/>
    <p:sldId id="263" r:id="rId12"/>
    <p:sldId id="275" r:id="rId13"/>
    <p:sldId id="264" r:id="rId14"/>
    <p:sldId id="265" r:id="rId15"/>
    <p:sldId id="268" r:id="rId16"/>
    <p:sldId id="267" r:id="rId17"/>
  </p:sldIdLst>
  <p:sldSz cx="18288000" cy="10287000"/>
  <p:notesSz cx="6858000" cy="9144000"/>
  <p:embeddedFontLst>
    <p:embeddedFont>
      <p:font typeface="Century Gothic" panose="020B0502020202020204" pitchFamily="34" charset="0"/>
      <p:regular r:id="rId19"/>
      <p:bold r:id="rId20"/>
      <p:italic r:id="rId21"/>
      <p:boldItalic r:id="rId22"/>
    </p:embeddedFont>
    <p:embeddedFont>
      <p:font typeface="DM Serif Display" panose="020B0604020202020204" charset="0"/>
      <p:regular r:id="rId23"/>
    </p:embeddedFont>
    <p:embeddedFont>
      <p:font typeface="Open Sauce" panose="020B0604020202020204" charset="0"/>
      <p:regular r:id="rId24"/>
    </p:embeddedFont>
    <p:embeddedFont>
      <p:font typeface="Calibri" panose="020F0502020204030204" pitchFamily="34" charset="0"/>
      <p:regular r:id="rId25"/>
      <p:bold r:id="rId26"/>
      <p:italic r:id="rId27"/>
      <p:boldItalic r:id="rId28"/>
    </p:embeddedFont>
    <p:embeddedFont>
      <p:font typeface="Wingdings 3" panose="05040102010807070707" pitchFamily="18" charset="2"/>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622" autoAdjust="0"/>
  </p:normalViewPr>
  <p:slideViewPr>
    <p:cSldViewPr>
      <p:cViewPr varScale="1">
        <p:scale>
          <a:sx n="46" d="100"/>
          <a:sy n="46" d="100"/>
        </p:scale>
        <p:origin x="72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3F1F6-7DD7-4677-A569-9062EC62F441}" type="datetimeFigureOut">
              <a:rPr lang="en-IN" smtClean="0"/>
              <a:t>29-01-2026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CFBF6C-4C91-4A9E-8A7F-BFD729182BFD}" type="slidenum">
              <a:rPr lang="en-IN" smtClean="0"/>
              <a:t>‹#›</a:t>
            </a:fld>
            <a:endParaRPr lang="en-IN"/>
          </a:p>
        </p:txBody>
      </p:sp>
    </p:spTree>
    <p:extLst>
      <p:ext uri="{BB962C8B-B14F-4D97-AF65-F5344CB8AC3E}">
        <p14:creationId xmlns:p14="http://schemas.microsoft.com/office/powerpoint/2010/main" val="265668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83820" y="3771901"/>
            <a:ext cx="13373099" cy="3394172"/>
          </a:xfrm>
        </p:spPr>
        <p:txBody>
          <a:bodyPr anchor="b">
            <a:normAutofit/>
          </a:bodyPr>
          <a:lstStyle>
            <a:lvl1pPr>
              <a:defRPr sz="8100"/>
            </a:lvl1pPr>
          </a:lstStyle>
          <a:p>
            <a:r>
              <a:rPr lang="en-US" smtClean="0"/>
              <a:t>Click to edit Master title style</a:t>
            </a:r>
            <a:endParaRPr lang="en-US" dirty="0"/>
          </a:p>
        </p:txBody>
      </p:sp>
      <p:sp>
        <p:nvSpPr>
          <p:cNvPr id="3" name="Subtitle 2"/>
          <p:cNvSpPr>
            <a:spLocks noGrp="1"/>
          </p:cNvSpPr>
          <p:nvPr>
            <p:ph type="subTitle" idx="1"/>
          </p:nvPr>
        </p:nvSpPr>
        <p:spPr>
          <a:xfrm>
            <a:off x="3883820" y="7166069"/>
            <a:ext cx="13373099" cy="1689425"/>
          </a:xfrm>
        </p:spPr>
        <p:txBody>
          <a:bodyPr anchor="t"/>
          <a:lstStyle>
            <a:lvl1pPr marL="0" indent="0" algn="l">
              <a:buNone/>
              <a:defRPr>
                <a:solidFill>
                  <a:schemeClr val="tx1">
                    <a:lumMod val="65000"/>
                    <a:lumOff val="35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6485716"/>
            <a:ext cx="2616978" cy="1167884"/>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797719" y="6794311"/>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7275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89388" y="936165"/>
            <a:ext cx="13367531" cy="192133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3883818" y="3200400"/>
            <a:ext cx="13373100" cy="566643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8041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83819" y="3088125"/>
            <a:ext cx="13373099" cy="2203200"/>
          </a:xfrm>
        </p:spPr>
        <p:txBody>
          <a:bodyPr anchor="b"/>
          <a:lstStyle>
            <a:lvl1pPr algn="l">
              <a:defRPr sz="6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3883819" y="5295194"/>
            <a:ext cx="13373099" cy="1290600"/>
          </a:xfrm>
        </p:spPr>
        <p:txBody>
          <a:bodyPr anchor="t"/>
          <a:lstStyle>
            <a:lvl1pPr marL="0" indent="0" algn="l">
              <a:buNone/>
              <a:defRPr sz="3000">
                <a:solidFill>
                  <a:schemeClr val="tx1">
                    <a:lumMod val="65000"/>
                    <a:lumOff val="3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6283" y="47672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797719" y="4866209"/>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61638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3883818" y="3200400"/>
            <a:ext cx="6470796" cy="566643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0786121" y="3189333"/>
            <a:ext cx="6470796" cy="566643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797719" y="1181674"/>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13417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4409060" y="2959055"/>
            <a:ext cx="5989098"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4" name="Content Placeholder 3"/>
          <p:cNvSpPr>
            <a:spLocks noGrp="1"/>
          </p:cNvSpPr>
          <p:nvPr>
            <p:ph sz="half" idx="2"/>
          </p:nvPr>
        </p:nvSpPr>
        <p:spPr>
          <a:xfrm>
            <a:off x="3883819" y="3823449"/>
            <a:ext cx="6514340" cy="503109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1259944" y="2954213"/>
            <a:ext cx="5998502"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6" name="Content Placeholder 5"/>
          <p:cNvSpPr>
            <a:spLocks noGrp="1"/>
          </p:cNvSpPr>
          <p:nvPr>
            <p:ph sz="quarter" idx="4"/>
          </p:nvPr>
        </p:nvSpPr>
        <p:spPr>
          <a:xfrm>
            <a:off x="10750436" y="3818607"/>
            <a:ext cx="6508011" cy="503109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1/29/2026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797719" y="1181674"/>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3651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1/29/2026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04040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220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83819" y="669132"/>
            <a:ext cx="5257799" cy="1464468"/>
          </a:xfrm>
        </p:spPr>
        <p:txBody>
          <a:bodyPr anchor="b"/>
          <a:lstStyle>
            <a:lvl1pPr algn="l">
              <a:defRPr sz="3000" b="0"/>
            </a:lvl1pPr>
          </a:lstStyle>
          <a:p>
            <a:r>
              <a:rPr lang="en-US" smtClean="0"/>
              <a:t>Click to edit Master title style</a:t>
            </a:r>
            <a:endParaRPr lang="en-US" dirty="0"/>
          </a:p>
        </p:txBody>
      </p:sp>
      <p:sp>
        <p:nvSpPr>
          <p:cNvPr id="3" name="Content Placeholder 2"/>
          <p:cNvSpPr>
            <a:spLocks noGrp="1"/>
          </p:cNvSpPr>
          <p:nvPr>
            <p:ph idx="1"/>
          </p:nvPr>
        </p:nvSpPr>
        <p:spPr>
          <a:xfrm>
            <a:off x="9484518" y="669133"/>
            <a:ext cx="7772400" cy="812244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883819" y="2397920"/>
            <a:ext cx="5257799" cy="6393654"/>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08112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83820" y="7200900"/>
            <a:ext cx="13373100" cy="85010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3818" y="952448"/>
            <a:ext cx="13373100" cy="5782455"/>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smtClean="0"/>
              <a:t>Click icon to add picture</a:t>
            </a:r>
            <a:endParaRPr lang="en-US" dirty="0"/>
          </a:p>
        </p:txBody>
      </p:sp>
      <p:sp>
        <p:nvSpPr>
          <p:cNvPr id="4" name="Text Placeholder 3"/>
          <p:cNvSpPr>
            <a:spLocks noGrp="1"/>
          </p:cNvSpPr>
          <p:nvPr>
            <p:ph type="body" sz="half" idx="2"/>
          </p:nvPr>
        </p:nvSpPr>
        <p:spPr>
          <a:xfrm>
            <a:off x="3883820" y="8051007"/>
            <a:ext cx="13373100" cy="740568"/>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6283" y="7367588"/>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797719" y="7474631"/>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24475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883819" y="914400"/>
            <a:ext cx="13373099" cy="4675560"/>
          </a:xfrm>
        </p:spPr>
        <p:txBody>
          <a:bodyPr anchor="ctr">
            <a:normAutofit/>
          </a:bodyPr>
          <a:lstStyle>
            <a:lvl1pPr algn="l">
              <a:defRPr sz="7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3883819" y="6531069"/>
            <a:ext cx="13373099" cy="2333796"/>
          </a:xfrm>
        </p:spPr>
        <p:txBody>
          <a:bodyPr anchor="ctr">
            <a:normAutofit/>
          </a:bodyPr>
          <a:lstStyle>
            <a:lvl1pPr marL="0" indent="0" algn="l">
              <a:buNone/>
              <a:defRPr sz="2700">
                <a:solidFill>
                  <a:schemeClr val="tx1">
                    <a:lumMod val="65000"/>
                    <a:lumOff val="3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6283" y="47672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797719" y="4866209"/>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6553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74924" y="914400"/>
            <a:ext cx="12590889" cy="4343400"/>
          </a:xfrm>
        </p:spPr>
        <p:txBody>
          <a:bodyPr anchor="ctr">
            <a:normAutofit/>
          </a:bodyPr>
          <a:lstStyle>
            <a:lvl1pPr algn="l">
              <a:defRPr sz="72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4912518" y="5257800"/>
            <a:ext cx="11304831"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smtClean="0"/>
              <a:t>Edit Master text styles</a:t>
            </a:r>
          </a:p>
        </p:txBody>
      </p:sp>
      <p:sp>
        <p:nvSpPr>
          <p:cNvPr id="3" name="Text Placeholder 2"/>
          <p:cNvSpPr>
            <a:spLocks noGrp="1"/>
          </p:cNvSpPr>
          <p:nvPr>
            <p:ph type="body" idx="1"/>
          </p:nvPr>
        </p:nvSpPr>
        <p:spPr>
          <a:xfrm>
            <a:off x="3883819" y="6531069"/>
            <a:ext cx="13373099" cy="2333796"/>
          </a:xfrm>
        </p:spPr>
        <p:txBody>
          <a:bodyPr anchor="ctr">
            <a:normAutofit/>
          </a:bodyPr>
          <a:lstStyle>
            <a:lvl1pPr marL="0" indent="0" algn="l">
              <a:buNone/>
              <a:defRPr sz="2700">
                <a:solidFill>
                  <a:schemeClr val="tx1">
                    <a:lumMod val="65000"/>
                    <a:lumOff val="3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6283" y="47672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797719" y="4866209"/>
            <a:ext cx="1169651" cy="547688"/>
          </a:xfrm>
        </p:spPr>
        <p:txBody>
          <a:bodyPr/>
          <a:lstStyle/>
          <a:p>
            <a:fld id="{B6F15528-21DE-4FAA-801E-634DDDAF4B2B}" type="slidenum">
              <a:rPr lang="en-US" smtClean="0"/>
              <a:pPr/>
              <a:t>‹#›</a:t>
            </a:fld>
            <a:endParaRPr lang="en-US"/>
          </a:p>
        </p:txBody>
      </p:sp>
      <p:sp>
        <p:nvSpPr>
          <p:cNvPr id="14" name="TextBox 13"/>
          <p:cNvSpPr txBox="1"/>
          <p:nvPr/>
        </p:nvSpPr>
        <p:spPr>
          <a:xfrm>
            <a:off x="3701478" y="972008"/>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solidFill>
                <a:effectLst/>
                <a:latin typeface="Arial"/>
              </a:rPr>
              <a:t>“</a:t>
            </a:r>
          </a:p>
        </p:txBody>
      </p:sp>
      <p:sp>
        <p:nvSpPr>
          <p:cNvPr id="15" name="TextBox 14"/>
          <p:cNvSpPr txBox="1"/>
          <p:nvPr/>
        </p:nvSpPr>
        <p:spPr>
          <a:xfrm>
            <a:off x="16672278" y="4357959"/>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68604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883820" y="3657601"/>
            <a:ext cx="13373100" cy="4087268"/>
          </a:xfrm>
        </p:spPr>
        <p:txBody>
          <a:bodyPr anchor="b">
            <a:normAutofit/>
          </a:bodyPr>
          <a:lstStyle>
            <a:lvl1pPr algn="l">
              <a:defRPr sz="72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3883820" y="7772400"/>
            <a:ext cx="13373100" cy="1094433"/>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6283" y="7367588"/>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797719" y="7474631"/>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1012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4274924" y="914400"/>
            <a:ext cx="12590889" cy="4343400"/>
          </a:xfrm>
        </p:spPr>
        <p:txBody>
          <a:bodyPr anchor="ctr">
            <a:normAutofit/>
          </a:bodyPr>
          <a:lstStyle>
            <a:lvl1pPr algn="l">
              <a:defRPr sz="72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3883818" y="6515100"/>
            <a:ext cx="13373100" cy="1257300"/>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3883820" y="7772400"/>
            <a:ext cx="13373100" cy="1094433"/>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6283" y="7367588"/>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797719" y="7474631"/>
            <a:ext cx="1169651" cy="547688"/>
          </a:xfrm>
        </p:spPr>
        <p:txBody>
          <a:bodyPr/>
          <a:lstStyle/>
          <a:p>
            <a:fld id="{B6F15528-21DE-4FAA-801E-634DDDAF4B2B}" type="slidenum">
              <a:rPr lang="en-US" smtClean="0"/>
              <a:pPr/>
              <a:t>‹#›</a:t>
            </a:fld>
            <a:endParaRPr lang="en-US"/>
          </a:p>
        </p:txBody>
      </p:sp>
      <p:sp>
        <p:nvSpPr>
          <p:cNvPr id="17" name="TextBox 16"/>
          <p:cNvSpPr txBox="1"/>
          <p:nvPr/>
        </p:nvSpPr>
        <p:spPr>
          <a:xfrm>
            <a:off x="3701478" y="972008"/>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solidFill>
                <a:effectLst/>
                <a:latin typeface="Arial"/>
              </a:rPr>
              <a:t>“</a:t>
            </a:r>
          </a:p>
        </p:txBody>
      </p:sp>
      <p:sp>
        <p:nvSpPr>
          <p:cNvPr id="18" name="TextBox 17"/>
          <p:cNvSpPr txBox="1"/>
          <p:nvPr/>
        </p:nvSpPr>
        <p:spPr>
          <a:xfrm>
            <a:off x="16672278" y="4357959"/>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317967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3883819" y="941111"/>
            <a:ext cx="13373099" cy="4320030"/>
          </a:xfrm>
        </p:spPr>
        <p:txBody>
          <a:bodyPr anchor="ctr">
            <a:normAutofit/>
          </a:bodyPr>
          <a:lstStyle>
            <a:lvl1pPr algn="l">
              <a:defRPr sz="72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3883818" y="6515100"/>
            <a:ext cx="13373100" cy="1257300"/>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3883820" y="7772400"/>
            <a:ext cx="13373100" cy="1094433"/>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6283" y="7367588"/>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797719" y="7474631"/>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02316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81264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942219" y="941108"/>
            <a:ext cx="3311402" cy="7925726"/>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83818" y="941108"/>
            <a:ext cx="9715500" cy="7925726"/>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18659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2" y="342900"/>
            <a:ext cx="4277274" cy="9957942"/>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40832" y="-45"/>
            <a:ext cx="3535011" cy="10279925"/>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274320" cy="10287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3889387" y="936165"/>
            <a:ext cx="13367531" cy="19213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3883818" y="3200400"/>
            <a:ext cx="13373100" cy="5829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5542419" y="9195656"/>
            <a:ext cx="1719425" cy="555594"/>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pPr/>
              <a:t>1/29/2026</a:t>
            </a:fld>
            <a:endParaRPr lang="en-US"/>
          </a:p>
        </p:txBody>
      </p:sp>
      <p:sp>
        <p:nvSpPr>
          <p:cNvPr id="5" name="Footer Placeholder 4"/>
          <p:cNvSpPr>
            <a:spLocks noGrp="1"/>
          </p:cNvSpPr>
          <p:nvPr>
            <p:ph type="ftr" sz="quarter" idx="3"/>
          </p:nvPr>
        </p:nvSpPr>
        <p:spPr>
          <a:xfrm>
            <a:off x="3883819" y="9203713"/>
            <a:ext cx="11429999"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797719" y="1181674"/>
            <a:ext cx="1169651" cy="547688"/>
          </a:xfrm>
          <a:prstGeom prst="rect">
            <a:avLst/>
          </a:prstGeom>
        </p:spPr>
        <p:txBody>
          <a:bodyPr vert="horz" lIns="91440" tIns="45720" rIns="91440" bIns="45720" rtlCol="0" anchor="ctr"/>
          <a:lstStyle>
            <a:lvl1pPr algn="r">
              <a:defRPr sz="3000">
                <a:solidFill>
                  <a:srgbClr val="FE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5956553"/>
      </p:ext>
    </p:extLst>
  </p:cSld>
  <p:clrMap bg1="dk1" tx1="lt1" bg2="dk2" tx2="lt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Lst>
  <p:txStyles>
    <p:titleStyle>
      <a:lvl1pPr algn="l" defTabSz="6858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39437" y="2446660"/>
            <a:ext cx="18288000" cy="2168479"/>
          </a:xfrm>
          <a:prstGeom prst="rect">
            <a:avLst/>
          </a:prstGeom>
        </p:spPr>
        <p:txBody>
          <a:bodyPr wrap="square" lIns="0" tIns="0" rIns="0" bIns="0" rtlCol="0" anchor="t">
            <a:spAutoFit/>
          </a:bodyPr>
          <a:lstStyle/>
          <a:p>
            <a:pPr algn="ctr">
              <a:lnSpc>
                <a:spcPts val="20160"/>
              </a:lnSpc>
            </a:pPr>
            <a:r>
              <a:rPr lang="en-US" sz="5400" dirty="0" smtClean="0">
                <a:solidFill>
                  <a:srgbClr val="000000"/>
                </a:solidFill>
                <a:latin typeface="DM Serif Display"/>
                <a:ea typeface="DM Serif Display"/>
                <a:cs typeface="DM Serif Display"/>
                <a:sym typeface="DM Serif Display"/>
              </a:rPr>
              <a:t>Gesture Based Communication Using </a:t>
            </a:r>
            <a:r>
              <a:rPr lang="en-US" sz="5400" dirty="0">
                <a:latin typeface="DM Serif Display" panose="020B0604020202020204" charset="0"/>
                <a:cs typeface="Times New Roman" panose="02020603050405020304" pitchFamily="18" charset="0"/>
              </a:rPr>
              <a:t>Steganography</a:t>
            </a:r>
            <a:endParaRPr lang="en-US" sz="5400" dirty="0">
              <a:solidFill>
                <a:srgbClr val="000000"/>
              </a:solidFill>
              <a:latin typeface="DM Serif Display" panose="020B0604020202020204" charset="0"/>
              <a:ea typeface="DM Serif Display"/>
              <a:cs typeface="DM Serif Display"/>
              <a:sym typeface="DM Serif Display"/>
            </a:endParaRPr>
          </a:p>
        </p:txBody>
      </p:sp>
      <p:pic>
        <p:nvPicPr>
          <p:cNvPr id="6" name="Picture 5">
            <a:extLst>
              <a:ext uri="{FF2B5EF4-FFF2-40B4-BE49-F238E27FC236}">
                <a16:creationId xmlns:a16="http://schemas.microsoft.com/office/drawing/2014/main" id="{61B39016-1E7A-5351-A6F7-226E373C564C}"/>
              </a:ext>
            </a:extLst>
          </p:cNvPr>
          <p:cNvPicPr>
            <a:picLocks noChangeAspect="1"/>
          </p:cNvPicPr>
          <p:nvPr/>
        </p:nvPicPr>
        <p:blipFill>
          <a:blip r:embed="rId2"/>
          <a:stretch>
            <a:fillRect/>
          </a:stretch>
        </p:blipFill>
        <p:spPr>
          <a:xfrm>
            <a:off x="318655" y="758536"/>
            <a:ext cx="3567545" cy="1688123"/>
          </a:xfrm>
          <a:prstGeom prst="rect">
            <a:avLst/>
          </a:prstGeom>
        </p:spPr>
      </p:pic>
      <p:sp>
        <p:nvSpPr>
          <p:cNvPr id="7" name="Title 1">
            <a:extLst>
              <a:ext uri="{FF2B5EF4-FFF2-40B4-BE49-F238E27FC236}">
                <a16:creationId xmlns:a16="http://schemas.microsoft.com/office/drawing/2014/main" id="{410C30D0-93CB-A10E-F6E5-337A0A6FFADF}"/>
              </a:ext>
            </a:extLst>
          </p:cNvPr>
          <p:cNvSpPr txBox="1">
            <a:spLocks/>
          </p:cNvSpPr>
          <p:nvPr/>
        </p:nvSpPr>
        <p:spPr>
          <a:xfrm>
            <a:off x="3505200" y="492815"/>
            <a:ext cx="13258800" cy="1953844"/>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3600" dirty="0" smtClean="0">
                <a:latin typeface="Times New Roman" panose="02020603050405020304" pitchFamily="18" charset="0"/>
                <a:cs typeface="Times New Roman" panose="02020603050405020304" pitchFamily="18" charset="0"/>
              </a:rPr>
              <a:t>JOGINPALLY.B.R ENGINEERING COLLEGE</a:t>
            </a:r>
            <a:br>
              <a:rPr lang="en-US" sz="36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DEPARTMENT OF COMPUTER SCIENCE ENGINEERING</a:t>
            </a:r>
          </a:p>
          <a:p>
            <a:pPr algn="ctr"/>
            <a:endParaRPr lang="en-US"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C452D89-A8EC-FB53-321C-8AF76696D84D}"/>
              </a:ext>
            </a:extLst>
          </p:cNvPr>
          <p:cNvSpPr txBox="1"/>
          <p:nvPr/>
        </p:nvSpPr>
        <p:spPr>
          <a:xfrm>
            <a:off x="1219200" y="6435407"/>
            <a:ext cx="6019800" cy="2031325"/>
          </a:xfrm>
          <a:prstGeom prst="rect">
            <a:avLst/>
          </a:prstGeom>
          <a:noFill/>
        </p:spPr>
        <p:txBody>
          <a:bodyPr wrap="square" rtlCol="0">
            <a:spAutoFit/>
          </a:bodyPr>
          <a:lstStyle/>
          <a:p>
            <a:pPr algn="ctr">
              <a:lnSpc>
                <a:spcPct val="150000"/>
              </a:lnSpc>
            </a:pPr>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UNDER THE GUIDANCE</a:t>
            </a:r>
          </a:p>
          <a:p>
            <a:pPr algn="ctr">
              <a:lnSpc>
                <a:spcPct val="150000"/>
              </a:lnSpc>
            </a:pPr>
            <a:r>
              <a:rPr lang="en-US" sz="2800" dirty="0" smtClean="0">
                <a:solidFill>
                  <a:schemeClr val="tx1">
                    <a:lumMod val="95000"/>
                    <a:lumOff val="5000"/>
                  </a:schemeClr>
                </a:solidFill>
                <a:latin typeface="Times New Roman" panose="02020603050405020304" pitchFamily="18" charset="0"/>
                <a:cs typeface="Times New Roman" panose="02020603050405020304" pitchFamily="18" charset="0"/>
              </a:rPr>
              <a:t>MR. G.SANTHOSH KUMAR</a:t>
            </a:r>
            <a:endParaRPr lang="en-IN" sz="28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lnSpc>
                <a:spcPct val="150000"/>
              </a:lnSpc>
            </a:pPr>
            <a:r>
              <a:rPr lang="en-IN" sz="2800" dirty="0" smtClean="0">
                <a:solidFill>
                  <a:schemeClr val="tx1">
                    <a:lumMod val="95000"/>
                    <a:lumOff val="5000"/>
                  </a:schemeClr>
                </a:solidFill>
                <a:latin typeface="Times New Roman" panose="02020603050405020304" pitchFamily="18" charset="0"/>
                <a:cs typeface="Times New Roman" panose="02020603050405020304" pitchFamily="18" charset="0"/>
              </a:rPr>
              <a:t>ASSISTANT.PROFESSOR</a:t>
            </a:r>
            <a:endParaRPr lang="en-IN"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30983A5-C6B5-999F-2362-DE883054254D}"/>
              </a:ext>
            </a:extLst>
          </p:cNvPr>
          <p:cNvSpPr txBox="1"/>
          <p:nvPr/>
        </p:nvSpPr>
        <p:spPr>
          <a:xfrm>
            <a:off x="12255700" y="6158409"/>
            <a:ext cx="5346500" cy="2308324"/>
          </a:xfrm>
          <a:prstGeom prst="rect">
            <a:avLst/>
          </a:prstGeom>
          <a:noFill/>
        </p:spPr>
        <p:txBody>
          <a:bodyPr wrap="square" rtlCol="0">
            <a:spAutoFit/>
          </a:bodyPr>
          <a:lstStyle/>
          <a:p>
            <a:pPr>
              <a:lnSpc>
                <a:spcPct val="150000"/>
              </a:lnSpc>
            </a:pPr>
            <a:r>
              <a:rPr lang="en-IN" sz="2400" b="1" dirty="0">
                <a:latin typeface="Times New Roman" panose="02020603050405020304" pitchFamily="18" charset="0"/>
                <a:cs typeface="Times New Roman" panose="02020603050405020304" pitchFamily="18" charset="0"/>
              </a:rPr>
              <a:t>PRESENTED BY</a:t>
            </a:r>
            <a:r>
              <a:rPr lang="en-IN" sz="2400" b="1" u="sng" dirty="0">
                <a:latin typeface="Times New Roman" panose="02020603050405020304" pitchFamily="18" charset="0"/>
                <a:cs typeface="Times New Roman" panose="02020603050405020304" pitchFamily="18" charset="0"/>
              </a:rPr>
              <a:t> </a:t>
            </a:r>
          </a:p>
          <a:p>
            <a:pPr>
              <a:lnSpc>
                <a:spcPct val="150000"/>
              </a:lnSpc>
            </a:pPr>
            <a:r>
              <a:rPr lang="en-IN" sz="2400" dirty="0" smtClean="0">
                <a:latin typeface="Times New Roman" panose="02020603050405020304" pitchFamily="18" charset="0"/>
                <a:cs typeface="Times New Roman" panose="02020603050405020304" pitchFamily="18" charset="0"/>
              </a:rPr>
              <a:t>G.KRISHNA  </a:t>
            </a:r>
            <a:r>
              <a:rPr lang="en-IN" sz="2400" dirty="0">
                <a:latin typeface="Times New Roman" panose="02020603050405020304" pitchFamily="18" charset="0"/>
                <a:cs typeface="Times New Roman" panose="02020603050405020304" pitchFamily="18" charset="0"/>
              </a:rPr>
              <a:t>(</a:t>
            </a:r>
            <a:r>
              <a:rPr lang="en-IN" sz="2400" dirty="0" smtClean="0">
                <a:latin typeface="Times New Roman" panose="02020603050405020304" pitchFamily="18" charset="0"/>
                <a:cs typeface="Times New Roman" panose="02020603050405020304" pitchFamily="18" charset="0"/>
              </a:rPr>
              <a:t>22J21A6620)</a:t>
            </a: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smtClean="0">
                <a:latin typeface="Times New Roman" panose="02020603050405020304" pitchFamily="18" charset="0"/>
                <a:cs typeface="Times New Roman" panose="02020603050405020304" pitchFamily="18" charset="0"/>
              </a:rPr>
              <a:t>A.MAHESH KUMAR (22J21A6602)</a:t>
            </a: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smtClean="0">
                <a:latin typeface="Times New Roman" panose="02020603050405020304" pitchFamily="18" charset="0"/>
                <a:cs typeface="Times New Roman" panose="02020603050405020304" pitchFamily="18" charset="0"/>
              </a:rPr>
              <a:t>D MADHU </a:t>
            </a:r>
            <a:r>
              <a:rPr lang="en-IN" sz="2400" dirty="0">
                <a:latin typeface="Times New Roman" panose="02020603050405020304" pitchFamily="18" charset="0"/>
                <a:cs typeface="Times New Roman" panose="02020603050405020304" pitchFamily="18" charset="0"/>
              </a:rPr>
              <a:t>(</a:t>
            </a:r>
            <a:r>
              <a:rPr lang="en-IN" sz="2400" dirty="0" smtClean="0">
                <a:latin typeface="Times New Roman" panose="02020603050405020304" pitchFamily="18" charset="0"/>
                <a:cs typeface="Times New Roman" panose="02020603050405020304" pitchFamily="18" charset="0"/>
              </a:rPr>
              <a:t>22J21A6616)</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166399" y="1233825"/>
            <a:ext cx="6910801" cy="1154162"/>
          </a:xfrm>
          <a:prstGeom prst="rect">
            <a:avLst/>
          </a:prstGeom>
        </p:spPr>
        <p:txBody>
          <a:bodyPr wrap="square"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Table of Contents</a:t>
            </a:r>
          </a:p>
        </p:txBody>
      </p:sp>
      <p:sp>
        <p:nvSpPr>
          <p:cNvPr id="5" name="AutoShape 5"/>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28" name="TextBox 27"/>
          <p:cNvSpPr txBox="1"/>
          <p:nvPr/>
        </p:nvSpPr>
        <p:spPr>
          <a:xfrm>
            <a:off x="2743200" y="2593111"/>
            <a:ext cx="9296400" cy="5509200"/>
          </a:xfrm>
          <a:prstGeom prst="rect">
            <a:avLst/>
          </a:prstGeom>
          <a:noFill/>
        </p:spPr>
        <p:txBody>
          <a:bodyPr wrap="square" rtlCol="0">
            <a:spAutoFit/>
          </a:bodyPr>
          <a:lstStyle/>
          <a:p>
            <a:r>
              <a:rPr lang="en-US" sz="4400" dirty="0" smtClean="0">
                <a:latin typeface="DM Serif Display" panose="020B0604020202020204" charset="0"/>
              </a:rPr>
              <a:t>1.Abstract</a:t>
            </a:r>
          </a:p>
          <a:p>
            <a:r>
              <a:rPr lang="en-US" sz="4400" dirty="0" smtClean="0">
                <a:latin typeface="DM Serif Display" panose="020B0604020202020204" charset="0"/>
              </a:rPr>
              <a:t>2.Title Justification</a:t>
            </a:r>
          </a:p>
          <a:p>
            <a:r>
              <a:rPr lang="en-US" sz="4400" dirty="0" smtClean="0">
                <a:latin typeface="DM Serif Display" panose="020B0604020202020204" charset="0"/>
              </a:rPr>
              <a:t>3.Existing system</a:t>
            </a:r>
          </a:p>
          <a:p>
            <a:r>
              <a:rPr lang="en-US" sz="4400" dirty="0" smtClean="0">
                <a:latin typeface="DM Serif Display" panose="020B0604020202020204" charset="0"/>
              </a:rPr>
              <a:t>4.Limitations</a:t>
            </a:r>
          </a:p>
          <a:p>
            <a:r>
              <a:rPr lang="en-US" sz="4400" dirty="0" smtClean="0">
                <a:latin typeface="DM Serif Display" panose="020B0604020202020204" charset="0"/>
              </a:rPr>
              <a:t>5.Proposed system</a:t>
            </a:r>
          </a:p>
          <a:p>
            <a:r>
              <a:rPr lang="en-US" sz="4400" dirty="0" smtClean="0">
                <a:latin typeface="DM Serif Display" panose="020B0604020202020204" charset="0"/>
              </a:rPr>
              <a:t>6.Advantages</a:t>
            </a:r>
          </a:p>
          <a:p>
            <a:r>
              <a:rPr lang="en-US" sz="4400" dirty="0" smtClean="0">
                <a:latin typeface="DM Serif Display" panose="020B0604020202020204" charset="0"/>
              </a:rPr>
              <a:t>7.Software requirements</a:t>
            </a:r>
          </a:p>
          <a:p>
            <a:r>
              <a:rPr lang="en-US" sz="4400" dirty="0" smtClean="0">
                <a:latin typeface="DM Serif Display" panose="020B0604020202020204" charset="0"/>
              </a:rPr>
              <a:t>8.Hardware requirements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txBox="1"/>
          <p:nvPr/>
        </p:nvSpPr>
        <p:spPr>
          <a:xfrm>
            <a:off x="1166399" y="1233825"/>
            <a:ext cx="3822789"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Abstract</a:t>
            </a:r>
            <a:endParaRPr lang="en-US" sz="6399" dirty="0">
              <a:solidFill>
                <a:srgbClr val="000000"/>
              </a:solidFill>
              <a:latin typeface="DM Serif Display"/>
              <a:ea typeface="DM Serif Display"/>
              <a:cs typeface="DM Serif Display"/>
              <a:sym typeface="DM Serif Display"/>
            </a:endParaRPr>
          </a:p>
        </p:txBody>
      </p:sp>
      <p:sp>
        <p:nvSpPr>
          <p:cNvPr id="20" name="TextBox 20"/>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21" name="AutoShape 21"/>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22" name="TextBox 21"/>
          <p:cNvSpPr txBox="1"/>
          <p:nvPr/>
        </p:nvSpPr>
        <p:spPr>
          <a:xfrm>
            <a:off x="1853723" y="2401788"/>
            <a:ext cx="8828132" cy="6740307"/>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Gesture-Based Secure Communication Using Steganography is a system that improves data security by using </a:t>
            </a:r>
            <a:r>
              <a:rPr lang="en-US" sz="3600" b="1" dirty="0">
                <a:latin typeface="Times New Roman" panose="02020603050405020304" pitchFamily="18" charset="0"/>
                <a:cs typeface="Times New Roman" panose="02020603050405020304" pitchFamily="18" charset="0"/>
              </a:rPr>
              <a:t>hand gestures</a:t>
            </a:r>
            <a:r>
              <a:rPr lang="en-US" sz="3600" dirty="0">
                <a:latin typeface="Times New Roman" panose="02020603050405020304" pitchFamily="18" charset="0"/>
                <a:cs typeface="Times New Roman" panose="02020603050405020304" pitchFamily="18" charset="0"/>
              </a:rPr>
              <a:t> to control the </a:t>
            </a:r>
            <a:r>
              <a:rPr lang="en-US" sz="3600" b="1" dirty="0">
                <a:latin typeface="Times New Roman" panose="02020603050405020304" pitchFamily="18" charset="0"/>
                <a:cs typeface="Times New Roman" panose="02020603050405020304" pitchFamily="18" charset="0"/>
              </a:rPr>
              <a:t>hiding and revealing of secret information</a:t>
            </a:r>
            <a:r>
              <a:rPr lang="en-US" sz="3600" dirty="0">
                <a:latin typeface="Times New Roman" panose="02020603050405020304" pitchFamily="18" charset="0"/>
                <a:cs typeface="Times New Roman" panose="02020603050405020304" pitchFamily="18" charset="0"/>
              </a:rPr>
              <a: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It uses </a:t>
            </a:r>
            <a:r>
              <a:rPr lang="en-US" sz="3600" b="1" dirty="0">
                <a:latin typeface="Times New Roman" panose="02020603050405020304" pitchFamily="18" charset="0"/>
                <a:cs typeface="Times New Roman" panose="02020603050405020304" pitchFamily="18" charset="0"/>
              </a:rPr>
              <a:t>steganography</a:t>
            </a:r>
            <a:r>
              <a:rPr lang="en-US" sz="3600" dirty="0">
                <a:latin typeface="Times New Roman" panose="02020603050405020304" pitchFamily="18" charset="0"/>
                <a:cs typeface="Times New Roman" panose="02020603050405020304" pitchFamily="18" charset="0"/>
              </a:rPr>
              <a:t>, a method of hiding data inside normal files like images so that no one can detect it.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By combining </a:t>
            </a:r>
            <a:r>
              <a:rPr lang="en-US" sz="3600" b="1" dirty="0">
                <a:latin typeface="Times New Roman" panose="02020603050405020304" pitchFamily="18" charset="0"/>
                <a:cs typeface="Times New Roman" panose="02020603050405020304" pitchFamily="18" charset="0"/>
              </a:rPr>
              <a:t>gesture recognition</a:t>
            </a:r>
            <a:r>
              <a:rPr lang="en-US" sz="3600" dirty="0">
                <a:latin typeface="Times New Roman" panose="02020603050405020304" pitchFamily="18" charset="0"/>
                <a:cs typeface="Times New Roman" panose="02020603050405020304" pitchFamily="18" charset="0"/>
              </a:rPr>
              <a:t> with </a:t>
            </a:r>
            <a:r>
              <a:rPr lang="en-US" sz="3600" b="1" dirty="0">
                <a:latin typeface="Times New Roman" panose="02020603050405020304" pitchFamily="18" charset="0"/>
                <a:cs typeface="Times New Roman" panose="02020603050405020304" pitchFamily="18" charset="0"/>
              </a:rPr>
              <a:t>steganography</a:t>
            </a:r>
            <a:r>
              <a:rPr lang="en-US" sz="3600" dirty="0">
                <a:latin typeface="Times New Roman" panose="02020603050405020304" pitchFamily="18" charset="0"/>
                <a:cs typeface="Times New Roman" panose="02020603050405020304" pitchFamily="18" charset="0"/>
              </a:rPr>
              <a:t>, the system provides an extra layer of security, making the hidden data both </a:t>
            </a:r>
            <a:r>
              <a:rPr lang="en-US" sz="3600" b="1" dirty="0">
                <a:latin typeface="Times New Roman" panose="02020603050405020304" pitchFamily="18" charset="0"/>
                <a:cs typeface="Times New Roman" panose="02020603050405020304" pitchFamily="18" charset="0"/>
              </a:rPr>
              <a:t>encrypted and invisible</a:t>
            </a:r>
            <a:r>
              <a:rPr lang="en-US" sz="3600" dirty="0">
                <a:latin typeface="Times New Roman" panose="02020603050405020304" pitchFamily="18" charset="0"/>
                <a:cs typeface="Times New Roman" panose="02020603050405020304" pitchFamily="18" charset="0"/>
              </a:rPr>
              <a:t> to unauthorized users.</a:t>
            </a:r>
          </a:p>
        </p:txBody>
      </p:sp>
      <p:pic>
        <p:nvPicPr>
          <p:cNvPr id="23" name="Picture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1855" y="2601046"/>
            <a:ext cx="7467600" cy="5119543"/>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15" name="TextBox 15"/>
          <p:cNvSpPr txBox="1"/>
          <p:nvPr/>
        </p:nvSpPr>
        <p:spPr>
          <a:xfrm>
            <a:off x="1166399" y="1233825"/>
            <a:ext cx="6987001" cy="1107932"/>
          </a:xfrm>
          <a:prstGeom prst="rect">
            <a:avLst/>
          </a:prstGeom>
        </p:spPr>
        <p:txBody>
          <a:bodyPr wrap="square" lIns="0" tIns="0" rIns="0" bIns="0" rtlCol="0" anchor="t">
            <a:spAutoFit/>
          </a:bodyPr>
          <a:lstStyle/>
          <a:p>
            <a:pPr>
              <a:lnSpc>
                <a:spcPts val="8959"/>
              </a:lnSpc>
            </a:pPr>
            <a:r>
              <a:rPr lang="en-IN" sz="6600" b="1" dirty="0">
                <a:latin typeface="DM Serif Display" panose="020B0604020202020204" charset="0"/>
              </a:rPr>
              <a:t>Introduction</a:t>
            </a:r>
            <a:endParaRPr lang="en-US" sz="6399" b="1" dirty="0">
              <a:solidFill>
                <a:srgbClr val="000000"/>
              </a:solidFill>
              <a:latin typeface="DM Serif Display" panose="020B0604020202020204" charset="0"/>
              <a:ea typeface="DM Serif Display"/>
              <a:cs typeface="DM Serif Display"/>
              <a:sym typeface="DM Serif Display"/>
            </a:endParaRPr>
          </a:p>
        </p:txBody>
      </p:sp>
      <p:sp>
        <p:nvSpPr>
          <p:cNvPr id="16" name="TextBox 16"/>
          <p:cNvSpPr txBox="1"/>
          <p:nvPr/>
        </p:nvSpPr>
        <p:spPr>
          <a:xfrm>
            <a:off x="1853722" y="2762216"/>
            <a:ext cx="14529277" cy="4431983"/>
          </a:xfrm>
          <a:prstGeom prst="rect">
            <a:avLst/>
          </a:prstGeom>
        </p:spPr>
        <p:txBody>
          <a:bodyPr wrap="square" lIns="0" tIns="0" rIns="0" bIns="0" rtlCol="0" anchor="t">
            <a:spAutoFit/>
          </a:bodyPr>
          <a:lstStyle/>
          <a:p>
            <a:pPr algn="just"/>
            <a:r>
              <a:rPr lang="en-US" sz="3600" dirty="0">
                <a:latin typeface="Times New Roman" panose="02020603050405020304" pitchFamily="18" charset="0"/>
                <a:cs typeface="Times New Roman" panose="02020603050405020304" pitchFamily="18" charset="0"/>
              </a:rPr>
              <a:t>With the rapid growth of digital communication, protecting sensitive information has become a major concern. Conventional security methods mainly rely on encryption, which makes data unreadable but still visible to attackers. This visibility often attracts hacking attempts. To overcome these issues, the proposed system introduces gesture-based control along with steganography. By using hand gestures for authentication and hiding data inside media files, the system ensures secure, contactless, and intelligent communication.</a:t>
            </a:r>
            <a:endParaRPr lang="en-US" sz="3600" dirty="0">
              <a:latin typeface="Times New Roman" panose="02020603050405020304" pitchFamily="18" charset="0"/>
              <a:cs typeface="Times New Roman" panose="02020603050405020304" pitchFamily="18" charset="0"/>
            </a:endParaRPr>
          </a:p>
        </p:txBody>
      </p:sp>
      <p:sp>
        <p:nvSpPr>
          <p:cNvPr id="18" name="TextBox 18"/>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62200" y="1409700"/>
            <a:ext cx="14837640" cy="584775"/>
          </a:xfrm>
          <a:prstGeom prst="rect">
            <a:avLst/>
          </a:prstGeom>
          <a:noFill/>
        </p:spPr>
        <p:txBody>
          <a:bodyPr wrap="square" rtlCol="0">
            <a:spAutoFit/>
          </a:bodyPr>
          <a:lstStyle/>
          <a:p>
            <a:r>
              <a:rPr lang="en-US" sz="3200" b="1" dirty="0">
                <a:solidFill>
                  <a:schemeClr val="bg1"/>
                </a:solidFill>
              </a:rPr>
              <a:t>Review of Video-Based Steganography for Secure Communication</a:t>
            </a:r>
            <a:endParaRPr lang="en-IN" sz="3200" b="1" dirty="0">
              <a:solidFill>
                <a:schemeClr val="bg1"/>
              </a:solidFill>
            </a:endParaRPr>
          </a:p>
        </p:txBody>
      </p:sp>
      <p:sp>
        <p:nvSpPr>
          <p:cNvPr id="6" name="TextBox 5"/>
          <p:cNvSpPr txBox="1"/>
          <p:nvPr/>
        </p:nvSpPr>
        <p:spPr>
          <a:xfrm>
            <a:off x="5791200" y="571500"/>
            <a:ext cx="9601200" cy="769441"/>
          </a:xfrm>
          <a:prstGeom prst="rect">
            <a:avLst/>
          </a:prstGeom>
          <a:noFill/>
        </p:spPr>
        <p:txBody>
          <a:bodyPr wrap="square" rtlCol="0">
            <a:spAutoFit/>
          </a:bodyPr>
          <a:lstStyle/>
          <a:p>
            <a:r>
              <a:rPr lang="en-US" sz="4400" b="1" dirty="0">
                <a:solidFill>
                  <a:schemeClr val="bg1"/>
                </a:solidFill>
                <a:latin typeface="Times New Roman" panose="02020603050405020304" pitchFamily="18" charset="0"/>
                <a:cs typeface="Times New Roman" panose="02020603050405020304" pitchFamily="18" charset="0"/>
              </a:rPr>
              <a:t>LITERATURE </a:t>
            </a:r>
            <a:r>
              <a:rPr lang="en-US" sz="4400" b="1" dirty="0" smtClean="0">
                <a:solidFill>
                  <a:schemeClr val="bg1"/>
                </a:solidFill>
                <a:latin typeface="Times New Roman" panose="02020603050405020304" pitchFamily="18" charset="0"/>
                <a:cs typeface="Times New Roman" panose="02020603050405020304" pitchFamily="18" charset="0"/>
              </a:rPr>
              <a:t>SURVEY</a:t>
            </a:r>
            <a:endParaRPr lang="en-US" sz="4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945769604"/>
              </p:ext>
            </p:extLst>
          </p:nvPr>
        </p:nvGraphicFramePr>
        <p:xfrm>
          <a:off x="1025524" y="3009900"/>
          <a:ext cx="15662275" cy="5867400"/>
        </p:xfrm>
        <a:graphic>
          <a:graphicData uri="http://schemas.openxmlformats.org/drawingml/2006/table">
            <a:tbl>
              <a:tblPr>
                <a:tableStyleId>{D113A9D2-9D6B-4929-AA2D-F23B5EE8CBE7}</a:tableStyleId>
              </a:tblPr>
              <a:tblGrid>
                <a:gridCol w="3132455">
                  <a:extLst>
                    <a:ext uri="{9D8B030D-6E8A-4147-A177-3AD203B41FA5}">
                      <a16:colId xmlns:a16="http://schemas.microsoft.com/office/drawing/2014/main" val="4135342629"/>
                    </a:ext>
                  </a:extLst>
                </a:gridCol>
                <a:gridCol w="3132455">
                  <a:extLst>
                    <a:ext uri="{9D8B030D-6E8A-4147-A177-3AD203B41FA5}">
                      <a16:colId xmlns:a16="http://schemas.microsoft.com/office/drawing/2014/main" val="600693465"/>
                    </a:ext>
                  </a:extLst>
                </a:gridCol>
                <a:gridCol w="3132455">
                  <a:extLst>
                    <a:ext uri="{9D8B030D-6E8A-4147-A177-3AD203B41FA5}">
                      <a16:colId xmlns:a16="http://schemas.microsoft.com/office/drawing/2014/main" val="1675511789"/>
                    </a:ext>
                  </a:extLst>
                </a:gridCol>
                <a:gridCol w="3132455">
                  <a:extLst>
                    <a:ext uri="{9D8B030D-6E8A-4147-A177-3AD203B41FA5}">
                      <a16:colId xmlns:a16="http://schemas.microsoft.com/office/drawing/2014/main" val="3031556897"/>
                    </a:ext>
                  </a:extLst>
                </a:gridCol>
                <a:gridCol w="3132455">
                  <a:extLst>
                    <a:ext uri="{9D8B030D-6E8A-4147-A177-3AD203B41FA5}">
                      <a16:colId xmlns:a16="http://schemas.microsoft.com/office/drawing/2014/main" val="1754101267"/>
                    </a:ext>
                  </a:extLst>
                </a:gridCol>
              </a:tblGrid>
              <a:tr h="1380565">
                <a:tc>
                  <a:txBody>
                    <a:bodyPr/>
                    <a:lstStyle/>
                    <a:p>
                      <a:r>
                        <a:rPr lang="en-IN"/>
                        <a:t>Title</a:t>
                      </a:r>
                    </a:p>
                  </a:txBody>
                  <a:tcPr anchor="ctr"/>
                </a:tc>
                <a:tc>
                  <a:txBody>
                    <a:bodyPr/>
                    <a:lstStyle/>
                    <a:p>
                      <a:r>
                        <a:rPr lang="en-IN"/>
                        <a:t>Author</a:t>
                      </a:r>
                    </a:p>
                  </a:txBody>
                  <a:tcPr anchor="ctr"/>
                </a:tc>
                <a:tc>
                  <a:txBody>
                    <a:bodyPr/>
                    <a:lstStyle/>
                    <a:p>
                      <a:r>
                        <a:rPr lang="en-IN"/>
                        <a:t>Methodology</a:t>
                      </a:r>
                    </a:p>
                  </a:txBody>
                  <a:tcPr anchor="ctr"/>
                </a:tc>
                <a:tc>
                  <a:txBody>
                    <a:bodyPr/>
                    <a:lstStyle/>
                    <a:p>
                      <a:r>
                        <a:rPr lang="en-IN"/>
                        <a:t>Drawbacks</a:t>
                      </a:r>
                    </a:p>
                  </a:txBody>
                  <a:tcPr anchor="ctr"/>
                </a:tc>
                <a:tc>
                  <a:txBody>
                    <a:bodyPr/>
                    <a:lstStyle/>
                    <a:p>
                      <a:r>
                        <a:rPr lang="en-IN"/>
                        <a:t>Improvement in Our Project</a:t>
                      </a:r>
                    </a:p>
                  </a:txBody>
                  <a:tcPr anchor="ctr"/>
                </a:tc>
                <a:extLst>
                  <a:ext uri="{0D108BD9-81ED-4DB2-BD59-A6C34878D82A}">
                    <a16:rowId xmlns:a16="http://schemas.microsoft.com/office/drawing/2014/main" val="856263059"/>
                  </a:ext>
                </a:extLst>
              </a:tr>
              <a:tr h="4486835">
                <a:tc>
                  <a:txBody>
                    <a:bodyPr/>
                    <a:lstStyle/>
                    <a:p>
                      <a:r>
                        <a:rPr lang="en-US"/>
                        <a:t>Data Encryption and Decryption Using Steganography</a:t>
                      </a:r>
                    </a:p>
                  </a:txBody>
                  <a:tcPr anchor="ctr"/>
                </a:tc>
                <a:tc>
                  <a:txBody>
                    <a:bodyPr/>
                    <a:lstStyle/>
                    <a:p>
                      <a:r>
                        <a:rPr lang="en-IN" dirty="0"/>
                        <a:t>N. Manohar et al.</a:t>
                      </a:r>
                    </a:p>
                  </a:txBody>
                  <a:tcPr anchor="ctr"/>
                </a:tc>
                <a:tc>
                  <a:txBody>
                    <a:bodyPr/>
                    <a:lstStyle/>
                    <a:p>
                      <a:r>
                        <a:rPr lang="en-US" dirty="0"/>
                        <a:t>Video steganography using LSB, Neural Networks, and Fuzzy Logic with PSNR and MSE evaluation</a:t>
                      </a:r>
                    </a:p>
                  </a:txBody>
                  <a:tcPr anchor="ctr"/>
                </a:tc>
                <a:tc>
                  <a:txBody>
                    <a:bodyPr/>
                    <a:lstStyle/>
                    <a:p>
                      <a:r>
                        <a:rPr lang="en-US"/>
                        <a:t>Uses only steganography, no authentication layer, high computational complexity</a:t>
                      </a:r>
                    </a:p>
                  </a:txBody>
                  <a:tcPr anchor="ctr"/>
                </a:tc>
                <a:tc>
                  <a:txBody>
                    <a:bodyPr/>
                    <a:lstStyle/>
                    <a:p>
                      <a:r>
                        <a:rPr lang="en-US" dirty="0"/>
                        <a:t>Adds gesture-based authentication with steganography to provide dual-layer security</a:t>
                      </a:r>
                    </a:p>
                  </a:txBody>
                  <a:tcPr anchor="ctr"/>
                </a:tc>
                <a:extLst>
                  <a:ext uri="{0D108BD9-81ED-4DB2-BD59-A6C34878D82A}">
                    <a16:rowId xmlns:a16="http://schemas.microsoft.com/office/drawing/2014/main" val="2373788704"/>
                  </a:ext>
                </a:extLst>
              </a:tr>
            </a:tbl>
          </a:graphicData>
        </a:graphic>
      </p:graphicFrame>
    </p:spTree>
    <p:extLst>
      <p:ext uri="{BB962C8B-B14F-4D97-AF65-F5344CB8AC3E}">
        <p14:creationId xmlns:p14="http://schemas.microsoft.com/office/powerpoint/2010/main" val="3317938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62200" y="1409700"/>
            <a:ext cx="14837640" cy="707886"/>
          </a:xfrm>
          <a:prstGeom prst="rect">
            <a:avLst/>
          </a:prstGeom>
          <a:noFill/>
        </p:spPr>
        <p:txBody>
          <a:bodyPr wrap="square" rtlCol="0">
            <a:spAutoFit/>
          </a:bodyPr>
          <a:lstStyle/>
          <a:p>
            <a:r>
              <a:rPr lang="en-US" sz="4000" b="1" dirty="0">
                <a:solidFill>
                  <a:schemeClr val="bg1"/>
                </a:solidFill>
              </a:rPr>
              <a:t>Review of Advanced Video Steganography Methods</a:t>
            </a:r>
            <a:endParaRPr lang="en-IN" sz="4000" b="1" dirty="0">
              <a:solidFill>
                <a:schemeClr val="bg1"/>
              </a:solidFill>
            </a:endParaRPr>
          </a:p>
        </p:txBody>
      </p:sp>
      <p:sp>
        <p:nvSpPr>
          <p:cNvPr id="6" name="TextBox 5"/>
          <p:cNvSpPr txBox="1"/>
          <p:nvPr/>
        </p:nvSpPr>
        <p:spPr>
          <a:xfrm>
            <a:off x="5791200" y="571500"/>
            <a:ext cx="9601200" cy="769441"/>
          </a:xfrm>
          <a:prstGeom prst="rect">
            <a:avLst/>
          </a:prstGeom>
          <a:noFill/>
        </p:spPr>
        <p:txBody>
          <a:bodyPr wrap="square" rtlCol="0">
            <a:spAutoFit/>
          </a:bodyPr>
          <a:lstStyle/>
          <a:p>
            <a:r>
              <a:rPr lang="en-US" sz="4400" b="1" dirty="0">
                <a:solidFill>
                  <a:schemeClr val="bg1"/>
                </a:solidFill>
                <a:latin typeface="Times New Roman" panose="02020603050405020304" pitchFamily="18" charset="0"/>
                <a:cs typeface="Times New Roman" panose="02020603050405020304" pitchFamily="18" charset="0"/>
              </a:rPr>
              <a:t>LITERATURE </a:t>
            </a:r>
            <a:r>
              <a:rPr lang="en-US" sz="4400" b="1" dirty="0" smtClean="0">
                <a:solidFill>
                  <a:schemeClr val="bg1"/>
                </a:solidFill>
                <a:latin typeface="Times New Roman" panose="02020603050405020304" pitchFamily="18" charset="0"/>
                <a:cs typeface="Times New Roman" panose="02020603050405020304" pitchFamily="18" charset="0"/>
              </a:rPr>
              <a:t>SURVEY</a:t>
            </a:r>
            <a:endParaRPr lang="en-US" sz="4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740899811"/>
              </p:ext>
            </p:extLst>
          </p:nvPr>
        </p:nvGraphicFramePr>
        <p:xfrm>
          <a:off x="2057400" y="2781300"/>
          <a:ext cx="14706600" cy="5791200"/>
        </p:xfrm>
        <a:graphic>
          <a:graphicData uri="http://schemas.openxmlformats.org/drawingml/2006/table">
            <a:tbl>
              <a:tblPr>
                <a:tableStyleId>{D113A9D2-9D6B-4929-AA2D-F23B5EE8CBE7}</a:tableStyleId>
              </a:tblPr>
              <a:tblGrid>
                <a:gridCol w="2941320">
                  <a:extLst>
                    <a:ext uri="{9D8B030D-6E8A-4147-A177-3AD203B41FA5}">
                      <a16:colId xmlns:a16="http://schemas.microsoft.com/office/drawing/2014/main" val="3177997140"/>
                    </a:ext>
                  </a:extLst>
                </a:gridCol>
                <a:gridCol w="2941320">
                  <a:extLst>
                    <a:ext uri="{9D8B030D-6E8A-4147-A177-3AD203B41FA5}">
                      <a16:colId xmlns:a16="http://schemas.microsoft.com/office/drawing/2014/main" val="2117164267"/>
                    </a:ext>
                  </a:extLst>
                </a:gridCol>
                <a:gridCol w="2941320">
                  <a:extLst>
                    <a:ext uri="{9D8B030D-6E8A-4147-A177-3AD203B41FA5}">
                      <a16:colId xmlns:a16="http://schemas.microsoft.com/office/drawing/2014/main" val="2325520826"/>
                    </a:ext>
                  </a:extLst>
                </a:gridCol>
                <a:gridCol w="2941320">
                  <a:extLst>
                    <a:ext uri="{9D8B030D-6E8A-4147-A177-3AD203B41FA5}">
                      <a16:colId xmlns:a16="http://schemas.microsoft.com/office/drawing/2014/main" val="3540195176"/>
                    </a:ext>
                  </a:extLst>
                </a:gridCol>
                <a:gridCol w="2941320">
                  <a:extLst>
                    <a:ext uri="{9D8B030D-6E8A-4147-A177-3AD203B41FA5}">
                      <a16:colId xmlns:a16="http://schemas.microsoft.com/office/drawing/2014/main" val="3951391225"/>
                    </a:ext>
                  </a:extLst>
                </a:gridCol>
              </a:tblGrid>
              <a:tr h="1359872">
                <a:tc>
                  <a:txBody>
                    <a:bodyPr/>
                    <a:lstStyle/>
                    <a:p>
                      <a:r>
                        <a:rPr lang="en-IN" sz="2400"/>
                        <a:t>Title</a:t>
                      </a:r>
                    </a:p>
                  </a:txBody>
                  <a:tcPr marL="32572" marR="32572" marT="16286" marB="16286" anchor="ctr"/>
                </a:tc>
                <a:tc>
                  <a:txBody>
                    <a:bodyPr/>
                    <a:lstStyle/>
                    <a:p>
                      <a:r>
                        <a:rPr lang="en-IN" sz="2400"/>
                        <a:t>Author</a:t>
                      </a:r>
                    </a:p>
                  </a:txBody>
                  <a:tcPr marL="32572" marR="32572" marT="16286" marB="16286" anchor="ctr"/>
                </a:tc>
                <a:tc>
                  <a:txBody>
                    <a:bodyPr/>
                    <a:lstStyle/>
                    <a:p>
                      <a:r>
                        <a:rPr lang="en-IN" sz="2400"/>
                        <a:t>Methodology</a:t>
                      </a:r>
                    </a:p>
                  </a:txBody>
                  <a:tcPr marL="32572" marR="32572" marT="16286" marB="16286" anchor="ctr"/>
                </a:tc>
                <a:tc>
                  <a:txBody>
                    <a:bodyPr/>
                    <a:lstStyle/>
                    <a:p>
                      <a:r>
                        <a:rPr lang="en-IN" sz="2400"/>
                        <a:t>Drawbacks</a:t>
                      </a:r>
                    </a:p>
                  </a:txBody>
                  <a:tcPr marL="32572" marR="32572" marT="16286" marB="16286" anchor="ctr"/>
                </a:tc>
                <a:tc>
                  <a:txBody>
                    <a:bodyPr/>
                    <a:lstStyle/>
                    <a:p>
                      <a:r>
                        <a:rPr lang="en-IN" sz="2400"/>
                        <a:t>Improvement in Our Project</a:t>
                      </a:r>
                    </a:p>
                  </a:txBody>
                  <a:tcPr marL="32572" marR="32572" marT="16286" marB="16286" anchor="ctr"/>
                </a:tc>
                <a:extLst>
                  <a:ext uri="{0D108BD9-81ED-4DB2-BD59-A6C34878D82A}">
                    <a16:rowId xmlns:a16="http://schemas.microsoft.com/office/drawing/2014/main" val="292299551"/>
                  </a:ext>
                </a:extLst>
              </a:tr>
              <a:tr h="4431328">
                <a:tc>
                  <a:txBody>
                    <a:bodyPr/>
                    <a:lstStyle/>
                    <a:p>
                      <a:r>
                        <a:rPr lang="en-US" sz="2400"/>
                        <a:t>Directional Pixogram: A New Approach for Video Steganography</a:t>
                      </a:r>
                    </a:p>
                  </a:txBody>
                  <a:tcPr marL="32572" marR="32572" marT="16286" marB="16286" anchor="ctr"/>
                </a:tc>
                <a:tc>
                  <a:txBody>
                    <a:bodyPr/>
                    <a:lstStyle/>
                    <a:p>
                      <a:r>
                        <a:rPr lang="en-IN" sz="2400"/>
                        <a:t>Mohammed Baziyad et al.</a:t>
                      </a:r>
                    </a:p>
                  </a:txBody>
                  <a:tcPr marL="32572" marR="32572" marT="16286" marB="16286" anchor="ctr"/>
                </a:tc>
                <a:tc>
                  <a:txBody>
                    <a:bodyPr/>
                    <a:lstStyle/>
                    <a:p>
                      <a:r>
                        <a:rPr lang="en-US" sz="2400" dirty="0"/>
                        <a:t>Video steganography using motion vectors and DCT coefficients</a:t>
                      </a:r>
                    </a:p>
                  </a:txBody>
                  <a:tcPr marL="32572" marR="32572" marT="16286" marB="16286" anchor="ctr"/>
                </a:tc>
                <a:tc>
                  <a:txBody>
                    <a:bodyPr/>
                    <a:lstStyle/>
                    <a:p>
                      <a:r>
                        <a:rPr lang="en-US" sz="2400" dirty="0"/>
                        <a:t>High processing cost, suitable only for video, no authentication</a:t>
                      </a:r>
                    </a:p>
                  </a:txBody>
                  <a:tcPr marL="32572" marR="32572" marT="16286" marB="16286" anchor="ctr"/>
                </a:tc>
                <a:tc>
                  <a:txBody>
                    <a:bodyPr/>
                    <a:lstStyle/>
                    <a:p>
                      <a:r>
                        <a:rPr lang="en-US" sz="2400" dirty="0"/>
                        <a:t>Lightweight image-based steganography with gesture authentication</a:t>
                      </a:r>
                    </a:p>
                  </a:txBody>
                  <a:tcPr marL="32572" marR="32572" marT="16286" marB="16286" anchor="ctr"/>
                </a:tc>
                <a:extLst>
                  <a:ext uri="{0D108BD9-81ED-4DB2-BD59-A6C34878D82A}">
                    <a16:rowId xmlns:a16="http://schemas.microsoft.com/office/drawing/2014/main" val="3430136945"/>
                  </a:ext>
                </a:extLst>
              </a:tr>
            </a:tbl>
          </a:graphicData>
        </a:graphic>
      </p:graphicFrame>
    </p:spTree>
    <p:extLst>
      <p:ext uri="{BB962C8B-B14F-4D97-AF65-F5344CB8AC3E}">
        <p14:creationId xmlns:p14="http://schemas.microsoft.com/office/powerpoint/2010/main" val="3721390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62200" y="1409700"/>
            <a:ext cx="14837640" cy="707886"/>
          </a:xfrm>
          <a:prstGeom prst="rect">
            <a:avLst/>
          </a:prstGeom>
          <a:noFill/>
        </p:spPr>
        <p:txBody>
          <a:bodyPr wrap="square" rtlCol="0">
            <a:spAutoFit/>
          </a:bodyPr>
          <a:lstStyle/>
          <a:p>
            <a:r>
              <a:rPr lang="en-US" sz="4000" b="1" dirty="0">
                <a:solidFill>
                  <a:schemeClr val="bg1"/>
                </a:solidFill>
              </a:rPr>
              <a:t>Review of Pixel-Based Image Steganography Algorithms</a:t>
            </a:r>
            <a:endParaRPr lang="en-IN" sz="4000" b="1" dirty="0">
              <a:solidFill>
                <a:schemeClr val="bg1"/>
              </a:solidFill>
            </a:endParaRPr>
          </a:p>
        </p:txBody>
      </p:sp>
      <p:sp>
        <p:nvSpPr>
          <p:cNvPr id="6" name="TextBox 5"/>
          <p:cNvSpPr txBox="1"/>
          <p:nvPr/>
        </p:nvSpPr>
        <p:spPr>
          <a:xfrm>
            <a:off x="5791200" y="571500"/>
            <a:ext cx="9601200" cy="769441"/>
          </a:xfrm>
          <a:prstGeom prst="rect">
            <a:avLst/>
          </a:prstGeom>
          <a:noFill/>
        </p:spPr>
        <p:txBody>
          <a:bodyPr wrap="square" rtlCol="0">
            <a:spAutoFit/>
          </a:bodyPr>
          <a:lstStyle/>
          <a:p>
            <a:r>
              <a:rPr lang="en-US" sz="4400" b="1" dirty="0">
                <a:solidFill>
                  <a:schemeClr val="bg1"/>
                </a:solidFill>
                <a:latin typeface="Times New Roman" panose="02020603050405020304" pitchFamily="18" charset="0"/>
                <a:cs typeface="Times New Roman" panose="02020603050405020304" pitchFamily="18" charset="0"/>
              </a:rPr>
              <a:t>LITERATURE </a:t>
            </a:r>
            <a:r>
              <a:rPr lang="en-US" sz="4400" b="1" dirty="0" smtClean="0">
                <a:solidFill>
                  <a:schemeClr val="bg1"/>
                </a:solidFill>
                <a:latin typeface="Times New Roman" panose="02020603050405020304" pitchFamily="18" charset="0"/>
                <a:cs typeface="Times New Roman" panose="02020603050405020304" pitchFamily="18" charset="0"/>
              </a:rPr>
              <a:t>SURVEY</a:t>
            </a:r>
            <a:endParaRPr lang="en-US" sz="4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12" name="Content Placeholder 11"/>
          <p:cNvGraphicFramePr>
            <a:graphicFrameLocks noGrp="1"/>
          </p:cNvGraphicFramePr>
          <p:nvPr>
            <p:ph idx="1"/>
            <p:extLst>
              <p:ext uri="{D42A27DB-BD31-4B8C-83A1-F6EECF244321}">
                <p14:modId xmlns:p14="http://schemas.microsoft.com/office/powerpoint/2010/main" val="107520765"/>
              </p:ext>
            </p:extLst>
          </p:nvPr>
        </p:nvGraphicFramePr>
        <p:xfrm>
          <a:off x="1447800" y="3543300"/>
          <a:ext cx="16383000" cy="4724399"/>
        </p:xfrm>
        <a:graphic>
          <a:graphicData uri="http://schemas.openxmlformats.org/drawingml/2006/table">
            <a:tbl>
              <a:tblPr>
                <a:tableStyleId>{D113A9D2-9D6B-4929-AA2D-F23B5EE8CBE7}</a:tableStyleId>
              </a:tblPr>
              <a:tblGrid>
                <a:gridCol w="3276600">
                  <a:extLst>
                    <a:ext uri="{9D8B030D-6E8A-4147-A177-3AD203B41FA5}">
                      <a16:colId xmlns:a16="http://schemas.microsoft.com/office/drawing/2014/main" val="650487353"/>
                    </a:ext>
                  </a:extLst>
                </a:gridCol>
                <a:gridCol w="3276600">
                  <a:extLst>
                    <a:ext uri="{9D8B030D-6E8A-4147-A177-3AD203B41FA5}">
                      <a16:colId xmlns:a16="http://schemas.microsoft.com/office/drawing/2014/main" val="1328731926"/>
                    </a:ext>
                  </a:extLst>
                </a:gridCol>
                <a:gridCol w="3276600">
                  <a:extLst>
                    <a:ext uri="{9D8B030D-6E8A-4147-A177-3AD203B41FA5}">
                      <a16:colId xmlns:a16="http://schemas.microsoft.com/office/drawing/2014/main" val="4266719274"/>
                    </a:ext>
                  </a:extLst>
                </a:gridCol>
                <a:gridCol w="3276600">
                  <a:extLst>
                    <a:ext uri="{9D8B030D-6E8A-4147-A177-3AD203B41FA5}">
                      <a16:colId xmlns:a16="http://schemas.microsoft.com/office/drawing/2014/main" val="3988449255"/>
                    </a:ext>
                  </a:extLst>
                </a:gridCol>
                <a:gridCol w="3276600">
                  <a:extLst>
                    <a:ext uri="{9D8B030D-6E8A-4147-A177-3AD203B41FA5}">
                      <a16:colId xmlns:a16="http://schemas.microsoft.com/office/drawing/2014/main" val="1960704527"/>
                    </a:ext>
                  </a:extLst>
                </a:gridCol>
              </a:tblGrid>
              <a:tr h="1243263">
                <a:tc>
                  <a:txBody>
                    <a:bodyPr/>
                    <a:lstStyle/>
                    <a:p>
                      <a:r>
                        <a:rPr lang="en-IN" sz="2600"/>
                        <a:t>Title</a:t>
                      </a:r>
                    </a:p>
                  </a:txBody>
                  <a:tcPr marL="88424" marR="88424" marT="44212" marB="44212" anchor="ctr"/>
                </a:tc>
                <a:tc>
                  <a:txBody>
                    <a:bodyPr/>
                    <a:lstStyle/>
                    <a:p>
                      <a:r>
                        <a:rPr lang="en-IN" sz="2600"/>
                        <a:t>Author</a:t>
                      </a:r>
                    </a:p>
                  </a:txBody>
                  <a:tcPr marL="88424" marR="88424" marT="44212" marB="44212" anchor="ctr"/>
                </a:tc>
                <a:tc>
                  <a:txBody>
                    <a:bodyPr/>
                    <a:lstStyle/>
                    <a:p>
                      <a:r>
                        <a:rPr lang="en-IN" sz="2600"/>
                        <a:t>Methodology</a:t>
                      </a:r>
                    </a:p>
                  </a:txBody>
                  <a:tcPr marL="88424" marR="88424" marT="44212" marB="44212" anchor="ctr"/>
                </a:tc>
                <a:tc>
                  <a:txBody>
                    <a:bodyPr/>
                    <a:lstStyle/>
                    <a:p>
                      <a:r>
                        <a:rPr lang="en-IN" sz="2600"/>
                        <a:t>Drawbacks</a:t>
                      </a:r>
                    </a:p>
                  </a:txBody>
                  <a:tcPr marL="88424" marR="88424" marT="44212" marB="44212" anchor="ctr"/>
                </a:tc>
                <a:tc>
                  <a:txBody>
                    <a:bodyPr/>
                    <a:lstStyle/>
                    <a:p>
                      <a:r>
                        <a:rPr lang="en-IN" sz="2600"/>
                        <a:t>Improvement in Our Project</a:t>
                      </a:r>
                    </a:p>
                  </a:txBody>
                  <a:tcPr marL="88424" marR="88424" marT="44212" marB="44212" anchor="ctr"/>
                </a:tc>
                <a:extLst>
                  <a:ext uri="{0D108BD9-81ED-4DB2-BD59-A6C34878D82A}">
                    <a16:rowId xmlns:a16="http://schemas.microsoft.com/office/drawing/2014/main" val="1646792680"/>
                  </a:ext>
                </a:extLst>
              </a:tr>
              <a:tr h="3481136">
                <a:tc>
                  <a:txBody>
                    <a:bodyPr/>
                    <a:lstStyle/>
                    <a:p>
                      <a:r>
                        <a:rPr lang="en-US" sz="2600"/>
                        <a:t>A Novel Pixel-Based Steganography Algorithm in Image Hiding</a:t>
                      </a:r>
                    </a:p>
                  </a:txBody>
                  <a:tcPr marL="88424" marR="88424" marT="44212" marB="44212" anchor="ctr"/>
                </a:tc>
                <a:tc>
                  <a:txBody>
                    <a:bodyPr/>
                    <a:lstStyle/>
                    <a:p>
                      <a:r>
                        <a:rPr lang="da-DK" sz="2600" dirty="0"/>
                        <a:t>Jawwad A. R. Kazi et al.</a:t>
                      </a:r>
                    </a:p>
                  </a:txBody>
                  <a:tcPr marL="88424" marR="88424" marT="44212" marB="44212" anchor="ctr"/>
                </a:tc>
                <a:tc>
                  <a:txBody>
                    <a:bodyPr/>
                    <a:lstStyle/>
                    <a:p>
                      <a:r>
                        <a:rPr lang="en-US" sz="2600"/>
                        <a:t>Pixel-level embedding of text in images</a:t>
                      </a:r>
                    </a:p>
                  </a:txBody>
                  <a:tcPr marL="88424" marR="88424" marT="44212" marB="44212" anchor="ctr"/>
                </a:tc>
                <a:tc>
                  <a:txBody>
                    <a:bodyPr/>
                    <a:lstStyle/>
                    <a:p>
                      <a:r>
                        <a:rPr lang="en-US" sz="2600"/>
                        <a:t>Single-layer security, vulnerable if algorithm is known</a:t>
                      </a:r>
                    </a:p>
                  </a:txBody>
                  <a:tcPr marL="88424" marR="88424" marT="44212" marB="44212" anchor="ctr"/>
                </a:tc>
                <a:tc>
                  <a:txBody>
                    <a:bodyPr/>
                    <a:lstStyle/>
                    <a:p>
                      <a:r>
                        <a:rPr lang="en-US" sz="2600" dirty="0"/>
                        <a:t>Adds gesture-based verification for secure data extraction</a:t>
                      </a:r>
                    </a:p>
                  </a:txBody>
                  <a:tcPr marL="88424" marR="88424" marT="44212" marB="44212" anchor="ctr"/>
                </a:tc>
                <a:extLst>
                  <a:ext uri="{0D108BD9-81ED-4DB2-BD59-A6C34878D82A}">
                    <a16:rowId xmlns:a16="http://schemas.microsoft.com/office/drawing/2014/main" val="3802605574"/>
                  </a:ext>
                </a:extLst>
              </a:tr>
            </a:tbl>
          </a:graphicData>
        </a:graphic>
      </p:graphicFrame>
    </p:spTree>
    <p:extLst>
      <p:ext uri="{BB962C8B-B14F-4D97-AF65-F5344CB8AC3E}">
        <p14:creationId xmlns:p14="http://schemas.microsoft.com/office/powerpoint/2010/main" val="242351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166399" y="1233825"/>
            <a:ext cx="6574284" cy="1154162"/>
          </a:xfrm>
          <a:prstGeom prst="rect">
            <a:avLst/>
          </a:prstGeom>
        </p:spPr>
        <p:txBody>
          <a:bodyPr wrap="square" lIns="0" tIns="0" rIns="0" bIns="0" rtlCol="0" anchor="t">
            <a:spAutoFit/>
          </a:bodyPr>
          <a:lstStyle/>
          <a:p>
            <a:pPr>
              <a:lnSpc>
                <a:spcPts val="8959"/>
              </a:lnSpc>
            </a:pPr>
            <a:r>
              <a:rPr lang="en-IN" sz="6000" b="1" dirty="0">
                <a:latin typeface="DM Serif Display" panose="020B0604020202020204" charset="0"/>
              </a:rPr>
              <a:t>Existing </a:t>
            </a:r>
            <a:r>
              <a:rPr lang="en-IN" sz="6000" b="1" dirty="0" smtClean="0">
                <a:latin typeface="DM Serif Display" panose="020B0604020202020204" charset="0"/>
              </a:rPr>
              <a:t>System</a:t>
            </a:r>
            <a:endParaRPr lang="en-US" sz="6000" b="1" dirty="0">
              <a:solidFill>
                <a:srgbClr val="000000"/>
              </a:solidFill>
              <a:latin typeface="DM Serif Display" panose="020B0604020202020204" charset="0"/>
              <a:ea typeface="DM Serif Display"/>
              <a:cs typeface="DM Serif Display"/>
              <a:sym typeface="DM Serif Display"/>
            </a:endParaRP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5</a:t>
            </a:r>
          </a:p>
        </p:txBody>
      </p:sp>
      <p:sp>
        <p:nvSpPr>
          <p:cNvPr id="8" name="TextBox 8"/>
          <p:cNvSpPr txBox="1"/>
          <p:nvPr/>
        </p:nvSpPr>
        <p:spPr>
          <a:xfrm>
            <a:off x="1676400" y="2582720"/>
            <a:ext cx="14097000" cy="5539978"/>
          </a:xfrm>
          <a:prstGeom prst="rect">
            <a:avLst/>
          </a:prstGeom>
        </p:spPr>
        <p:txBody>
          <a:bodyPr wrap="square" lIns="0" tIns="0" rIns="0" bIns="0" rtlCol="0" anchor="t">
            <a:spAutoFit/>
          </a:bodyPr>
          <a:lstStyle/>
          <a:p>
            <a:r>
              <a:rPr lang="en-US" sz="3600" dirty="0">
                <a:latin typeface="Times New Roman" panose="02020603050405020304" pitchFamily="18" charset="0"/>
                <a:cs typeface="Times New Roman" panose="02020603050405020304" pitchFamily="18" charset="0"/>
              </a:rPr>
              <a:t>In the existing communication systems, most data protection methods depend on </a:t>
            </a:r>
            <a:r>
              <a:rPr lang="en-US" sz="3600" b="1" dirty="0">
                <a:latin typeface="Times New Roman" panose="02020603050405020304" pitchFamily="18" charset="0"/>
                <a:cs typeface="Times New Roman" panose="02020603050405020304" pitchFamily="18" charset="0"/>
              </a:rPr>
              <a:t>encryption</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password-based security</a:t>
            </a:r>
            <a:r>
              <a:rPr lang="en-US" sz="3600" dirty="0">
                <a:latin typeface="Times New Roman" panose="02020603050405020304" pitchFamily="18" charset="0"/>
                <a:cs typeface="Times New Roman" panose="02020603050405020304" pitchFamily="18" charset="0"/>
              </a:rPr>
              <a: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Encryption hides the meaning of the message but does not hide the message itself — anyone can see that secret communication is happening.</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These systems mainly use </a:t>
            </a:r>
            <a:r>
              <a:rPr lang="en-US" sz="3600" b="1" dirty="0">
                <a:latin typeface="Times New Roman" panose="02020603050405020304" pitchFamily="18" charset="0"/>
                <a:cs typeface="Times New Roman" panose="02020603050405020304" pitchFamily="18" charset="0"/>
              </a:rPr>
              <a:t>text-based or key-based authentication</a:t>
            </a:r>
            <a:r>
              <a:rPr lang="en-US" sz="3600" dirty="0">
                <a:latin typeface="Times New Roman" panose="02020603050405020304" pitchFamily="18" charset="0"/>
                <a:cs typeface="Times New Roman" panose="02020603050405020304" pitchFamily="18" charset="0"/>
              </a:rPr>
              <a:t>, which can be easily targeted by hackers through brute-force or phishing attacks.</a:t>
            </a:r>
          </a:p>
          <a:p>
            <a:r>
              <a:rPr lang="en-US" sz="3600" dirty="0">
                <a:latin typeface="Times New Roman" panose="02020603050405020304" pitchFamily="18" charset="0"/>
                <a:cs typeface="Times New Roman" panose="02020603050405020304" pitchFamily="18" charset="0"/>
              </a:rPr>
              <a:t>Existing secure systems also lack </a:t>
            </a:r>
            <a:r>
              <a:rPr lang="en-US" sz="3600" b="1" dirty="0">
                <a:latin typeface="Times New Roman" panose="02020603050405020304" pitchFamily="18" charset="0"/>
                <a:cs typeface="Times New Roman" panose="02020603050405020304" pitchFamily="18" charset="0"/>
              </a:rPr>
              <a:t>gesture-based controls</a:t>
            </a:r>
            <a:r>
              <a:rPr lang="en-US" sz="3600" dirty="0">
                <a:latin typeface="Times New Roman" panose="02020603050405020304" pitchFamily="18" charset="0"/>
                <a:cs typeface="Times New Roman" panose="02020603050405020304" pitchFamily="18" charset="0"/>
              </a:rPr>
              <a:t>, which could make the communication more private and hands-free.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Since there is no integration of </a:t>
            </a:r>
            <a:r>
              <a:rPr lang="en-US" sz="3600" b="1" dirty="0">
                <a:latin typeface="Times New Roman" panose="02020603050405020304" pitchFamily="18" charset="0"/>
                <a:cs typeface="Times New Roman" panose="02020603050405020304" pitchFamily="18" charset="0"/>
              </a:rPr>
              <a:t>steganography</a:t>
            </a:r>
            <a:r>
              <a:rPr lang="en-US" sz="3600" dirty="0">
                <a:latin typeface="Times New Roman" panose="02020603050405020304" pitchFamily="18" charset="0"/>
                <a:cs typeface="Times New Roman" panose="02020603050405020304" pitchFamily="18" charset="0"/>
              </a:rPr>
              <a:t> or </a:t>
            </a:r>
            <a:r>
              <a:rPr lang="en-US" sz="3600" b="1" dirty="0">
                <a:latin typeface="Times New Roman" panose="02020603050405020304" pitchFamily="18" charset="0"/>
                <a:cs typeface="Times New Roman" panose="02020603050405020304" pitchFamily="18" charset="0"/>
              </a:rPr>
              <a:t>gesture recognition</a:t>
            </a:r>
            <a:r>
              <a:rPr lang="en-US" sz="3600" dirty="0">
                <a:latin typeface="Times New Roman" panose="02020603050405020304" pitchFamily="18" charset="0"/>
                <a:cs typeface="Times New Roman" panose="02020603050405020304" pitchFamily="18" charset="0"/>
              </a:rPr>
              <a:t>, the level of security remains limited.</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33825"/>
            <a:ext cx="4952833"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Limitations</a:t>
            </a:r>
            <a:endParaRPr lang="en-US" sz="6399" dirty="0">
              <a:solidFill>
                <a:srgbClr val="000000"/>
              </a:solidFill>
              <a:latin typeface="DM Serif Display"/>
              <a:ea typeface="DM Serif Display"/>
              <a:cs typeface="DM Serif Display"/>
              <a:sym typeface="DM Serif Display"/>
            </a:endParaRP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6</a:t>
            </a:r>
          </a:p>
        </p:txBody>
      </p:sp>
      <p:sp>
        <p:nvSpPr>
          <p:cNvPr id="34" name="TextBox 33"/>
          <p:cNvSpPr txBox="1"/>
          <p:nvPr/>
        </p:nvSpPr>
        <p:spPr>
          <a:xfrm>
            <a:off x="1853723" y="2857500"/>
            <a:ext cx="12548077" cy="5078313"/>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Only encryption is used, which can still attract attention to the hidden message.</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Hackers can identify and try to break encrypted data.</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No gesture-based or multi-layer security methods.</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Risk of data leakage during transmission.</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Not suitable for modern, real-time, or user-friendly communication.</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Difficult for common users who are not familiar with complex encryption tools.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33825"/>
            <a:ext cx="7445029"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Proposed System</a:t>
            </a:r>
            <a:endParaRPr lang="en-US" sz="6399" dirty="0">
              <a:solidFill>
                <a:srgbClr val="000000"/>
              </a:solidFill>
              <a:latin typeface="DM Serif Display"/>
              <a:ea typeface="DM Serif Display"/>
              <a:cs typeface="DM Serif Display"/>
              <a:sym typeface="DM Serif Display"/>
            </a:endParaRP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7</a:t>
            </a:r>
          </a:p>
        </p:txBody>
      </p:sp>
      <p:sp>
        <p:nvSpPr>
          <p:cNvPr id="14" name="TextBox 13"/>
          <p:cNvSpPr txBox="1"/>
          <p:nvPr/>
        </p:nvSpPr>
        <p:spPr>
          <a:xfrm>
            <a:off x="1516988" y="2644546"/>
            <a:ext cx="15094612" cy="6740307"/>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The system combines </a:t>
            </a:r>
            <a:r>
              <a:rPr lang="en-US" sz="3600" b="1" dirty="0">
                <a:latin typeface="Times New Roman" panose="02020603050405020304" pitchFamily="18" charset="0"/>
                <a:cs typeface="Times New Roman" panose="02020603050405020304" pitchFamily="18" charset="0"/>
              </a:rPr>
              <a:t>gesture recognition</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steganography</a:t>
            </a:r>
            <a:r>
              <a:rPr lang="en-US" sz="3600" dirty="0">
                <a:latin typeface="Times New Roman" panose="02020603050405020304" pitchFamily="18" charset="0"/>
                <a:cs typeface="Times New Roman" panose="02020603050405020304" pitchFamily="18" charset="0"/>
              </a:rPr>
              <a:t> for secure data communication.</a:t>
            </a:r>
          </a:p>
          <a:p>
            <a:r>
              <a:rPr lang="en-US" sz="3600" dirty="0">
                <a:latin typeface="Times New Roman" panose="02020603050405020304" pitchFamily="18" charset="0"/>
                <a:cs typeface="Times New Roman" panose="02020603050405020304" pitchFamily="18" charset="0"/>
              </a:rPr>
              <a:t>Users can use </a:t>
            </a:r>
            <a:r>
              <a:rPr lang="en-US" sz="3600" b="1" dirty="0">
                <a:latin typeface="Times New Roman" panose="02020603050405020304" pitchFamily="18" charset="0"/>
                <a:cs typeface="Times New Roman" panose="02020603050405020304" pitchFamily="18" charset="0"/>
              </a:rPr>
              <a:t>hand gestures</a:t>
            </a:r>
            <a:r>
              <a:rPr lang="en-US" sz="3600" dirty="0">
                <a:latin typeface="Times New Roman" panose="02020603050405020304" pitchFamily="18" charset="0"/>
                <a:cs typeface="Times New Roman" panose="02020603050405020304" pitchFamily="18" charset="0"/>
              </a:rPr>
              <a:t> instead of typing passwords or commands.</a:t>
            </a:r>
          </a:p>
          <a:p>
            <a:r>
              <a:rPr lang="en-US" sz="3600" dirty="0">
                <a:latin typeface="Times New Roman" panose="02020603050405020304" pitchFamily="18" charset="0"/>
                <a:cs typeface="Times New Roman" panose="02020603050405020304" pitchFamily="18" charset="0"/>
              </a:rPr>
              <a:t>Gestures are used to control the </a:t>
            </a:r>
            <a:r>
              <a:rPr lang="en-US" sz="3600" b="1" dirty="0">
                <a:latin typeface="Times New Roman" panose="02020603050405020304" pitchFamily="18" charset="0"/>
                <a:cs typeface="Times New Roman" panose="02020603050405020304" pitchFamily="18" charset="0"/>
              </a:rPr>
              <a:t>encoding (hiding)</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decoding (revealing)</a:t>
            </a:r>
            <a:r>
              <a:rPr lang="en-US" sz="3600" dirty="0">
                <a:latin typeface="Times New Roman" panose="02020603050405020304" pitchFamily="18" charset="0"/>
                <a:cs typeface="Times New Roman" panose="02020603050405020304" pitchFamily="18" charset="0"/>
              </a:rPr>
              <a:t> of secret information.</a:t>
            </a:r>
          </a:p>
          <a:p>
            <a:r>
              <a:rPr lang="en-US" sz="3600" dirty="0">
                <a:latin typeface="Times New Roman" panose="02020603050405020304" pitchFamily="18" charset="0"/>
                <a:cs typeface="Times New Roman" panose="02020603050405020304" pitchFamily="18" charset="0"/>
              </a:rPr>
              <a:t>The hidden message is stored inside an </a:t>
            </a:r>
            <a:r>
              <a:rPr lang="en-US" sz="3600" b="1" dirty="0">
                <a:latin typeface="Times New Roman" panose="02020603050405020304" pitchFamily="18" charset="0"/>
                <a:cs typeface="Times New Roman" panose="02020603050405020304" pitchFamily="18" charset="0"/>
              </a:rPr>
              <a:t>image or media file</a:t>
            </a:r>
            <a:r>
              <a:rPr lang="en-US" sz="3600" dirty="0">
                <a:latin typeface="Times New Roman" panose="02020603050405020304" pitchFamily="18" charset="0"/>
                <a:cs typeface="Times New Roman" panose="02020603050405020304" pitchFamily="18" charset="0"/>
              </a:rPr>
              <a:t> using steganography, making it invisible to others.</a:t>
            </a:r>
          </a:p>
          <a:p>
            <a:r>
              <a:rPr lang="en-US" sz="3600" dirty="0">
                <a:latin typeface="Times New Roman" panose="02020603050405020304" pitchFamily="18" charset="0"/>
                <a:cs typeface="Times New Roman" panose="02020603050405020304" pitchFamily="18" charset="0"/>
              </a:rPr>
              <a:t>Only </a:t>
            </a:r>
            <a:r>
              <a:rPr lang="en-US" sz="3600" b="1" dirty="0">
                <a:latin typeface="Times New Roman" panose="02020603050405020304" pitchFamily="18" charset="0"/>
                <a:cs typeface="Times New Roman" panose="02020603050405020304" pitchFamily="18" charset="0"/>
              </a:rPr>
              <a:t>authorized users</a:t>
            </a:r>
            <a:r>
              <a:rPr lang="en-US" sz="3600" dirty="0">
                <a:latin typeface="Times New Roman" panose="02020603050405020304" pitchFamily="18" charset="0"/>
                <a:cs typeface="Times New Roman" panose="02020603050405020304" pitchFamily="18" charset="0"/>
              </a:rPr>
              <a:t> who know the correct gesture sequence can access or reveal the hidden data.</a:t>
            </a:r>
          </a:p>
          <a:p>
            <a:r>
              <a:rPr lang="en-US" sz="3600" b="1" dirty="0">
                <a:latin typeface="Times New Roman" panose="02020603050405020304" pitchFamily="18" charset="0"/>
                <a:cs typeface="Times New Roman" panose="02020603050405020304" pitchFamily="18" charset="0"/>
              </a:rPr>
              <a:t>Two-Layer Protection:</a:t>
            </a:r>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r>
              <a:rPr lang="en-US" sz="3600" dirty="0" smtClean="0">
                <a:latin typeface="Times New Roman" panose="02020603050405020304" pitchFamily="18" charset="0"/>
                <a:cs typeface="Times New Roman" panose="02020603050405020304" pitchFamily="18" charset="0"/>
              </a:rPr>
              <a:t>     </a:t>
            </a:r>
            <a:r>
              <a:rPr lang="en-US" sz="3600" b="1" dirty="0" smtClean="0">
                <a:latin typeface="Times New Roman" panose="02020603050405020304" pitchFamily="18" charset="0"/>
                <a:cs typeface="Times New Roman" panose="02020603050405020304" pitchFamily="18" charset="0"/>
              </a:rPr>
              <a:t>First </a:t>
            </a:r>
            <a:r>
              <a:rPr lang="en-US" sz="3600" b="1" dirty="0">
                <a:latin typeface="Times New Roman" panose="02020603050405020304" pitchFamily="18" charset="0"/>
                <a:cs typeface="Times New Roman" panose="02020603050405020304" pitchFamily="18" charset="0"/>
              </a:rPr>
              <a:t>Layer:</a:t>
            </a:r>
            <a:r>
              <a:rPr lang="en-US" sz="3600" dirty="0">
                <a:latin typeface="Times New Roman" panose="02020603050405020304" pitchFamily="18" charset="0"/>
                <a:cs typeface="Times New Roman" panose="02020603050405020304" pitchFamily="18" charset="0"/>
              </a:rPr>
              <a:t> Gestures act as an authentication key.</a:t>
            </a:r>
            <a:br>
              <a:rPr lang="en-US" sz="3600" dirty="0">
                <a:latin typeface="Times New Roman" panose="02020603050405020304" pitchFamily="18" charset="0"/>
                <a:cs typeface="Times New Roman" panose="02020603050405020304" pitchFamily="18" charset="0"/>
              </a:rPr>
            </a:br>
            <a:r>
              <a:rPr lang="en-US" sz="3600" dirty="0" smtClean="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Second Layer:</a:t>
            </a:r>
            <a:r>
              <a:rPr lang="en-US" sz="3600" dirty="0">
                <a:latin typeface="Times New Roman" panose="02020603050405020304" pitchFamily="18" charset="0"/>
                <a:cs typeface="Times New Roman" panose="02020603050405020304" pitchFamily="18" charset="0"/>
              </a:rPr>
              <a:t> Steganography hides the actual message inside a media file</a:t>
            </a:r>
            <a:r>
              <a:rPr lang="en-US" sz="3600" dirty="0" smtClean="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166399" y="1233825"/>
            <a:ext cx="10399168"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Advantages </a:t>
            </a:r>
            <a:endParaRPr lang="en-US" sz="6399" dirty="0">
              <a:solidFill>
                <a:srgbClr val="000000"/>
              </a:solidFill>
              <a:latin typeface="DM Serif Display"/>
              <a:ea typeface="DM Serif Display"/>
              <a:cs typeface="DM Serif Display"/>
              <a:sym typeface="DM Serif Display"/>
            </a:endParaRP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8</a:t>
            </a:r>
          </a:p>
        </p:txBody>
      </p:sp>
      <p:sp>
        <p:nvSpPr>
          <p:cNvPr id="10" name="TextBox 9"/>
          <p:cNvSpPr txBox="1"/>
          <p:nvPr/>
        </p:nvSpPr>
        <p:spPr>
          <a:xfrm>
            <a:off x="1867578" y="2804046"/>
            <a:ext cx="11963400" cy="4524315"/>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Dual-layer security (gesture + steganography) makes hacking nearly impossible.</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Prevents unauthorized access and data detection.</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User-friendly, contactless, and interactive communication.</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Reduces risk of brute-force or phishing attacks.</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Works with different file formats like images, videos, or audio.</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Less data loss, fast processing, and minimal storage usage.</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Suitable for modern AI-driven security applications.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2362200" y="1485900"/>
            <a:ext cx="14302201" cy="6894195"/>
          </a:xfrm>
          <a:prstGeom prst="rect">
            <a:avLst/>
          </a:prstGeom>
        </p:spPr>
        <p:txBody>
          <a:bodyPr wrap="square" lIns="0" tIns="0" rIns="0" bIns="0" rtlCol="0" anchor="t">
            <a:spAutoFit/>
          </a:bodyPr>
          <a:lstStyle/>
          <a:p>
            <a:r>
              <a:rPr lang="en-US" sz="3200" b="1" dirty="0"/>
              <a:t>System Requirement Specification (SRS)</a:t>
            </a:r>
          </a:p>
          <a:p>
            <a:pPr lvl="1"/>
            <a:r>
              <a:rPr lang="en-US" sz="3200" b="1" dirty="0"/>
              <a:t>Functional Requirements</a:t>
            </a:r>
          </a:p>
          <a:p>
            <a:pPr lvl="2"/>
            <a:r>
              <a:rPr lang="en-US" sz="3200" dirty="0"/>
              <a:t>The system should detect and recognize user hand gestures.</a:t>
            </a:r>
          </a:p>
          <a:p>
            <a:pPr lvl="2"/>
            <a:r>
              <a:rPr lang="en-US" sz="3200" dirty="0"/>
              <a:t>The system should allow users to hide secret data inside media files.</a:t>
            </a:r>
          </a:p>
          <a:p>
            <a:pPr lvl="2"/>
            <a:r>
              <a:rPr lang="en-US" sz="3200" dirty="0"/>
              <a:t>The system should extract hidden data only after correct gesture authentication.</a:t>
            </a:r>
          </a:p>
          <a:p>
            <a:pPr lvl="2"/>
            <a:r>
              <a:rPr lang="en-US" sz="3200" dirty="0"/>
              <a:t>The system should store and manage user inputs securely.</a:t>
            </a:r>
          </a:p>
          <a:p>
            <a:pPr lvl="2"/>
            <a:r>
              <a:rPr lang="en-US" sz="3200" dirty="0"/>
              <a:t>The system should support image-based steganography.</a:t>
            </a:r>
          </a:p>
          <a:p>
            <a:pPr lvl="1"/>
            <a:r>
              <a:rPr lang="en-US" sz="3200" b="1" dirty="0"/>
              <a:t>Non-Functional Requirements</a:t>
            </a:r>
          </a:p>
          <a:p>
            <a:pPr lvl="2"/>
            <a:r>
              <a:rPr lang="en-US" sz="3200" dirty="0"/>
              <a:t>The system should provide high security and reliability.</a:t>
            </a:r>
          </a:p>
          <a:p>
            <a:pPr lvl="2"/>
            <a:r>
              <a:rPr lang="en-US" sz="3200" dirty="0"/>
              <a:t>The response time should be fast and efficient.</a:t>
            </a:r>
          </a:p>
          <a:p>
            <a:pPr lvl="2"/>
            <a:r>
              <a:rPr lang="en-US" sz="3200" dirty="0"/>
              <a:t>The system should be user-friendly and easy to operate.</a:t>
            </a:r>
          </a:p>
          <a:p>
            <a:pPr lvl="2"/>
            <a:r>
              <a:rPr lang="en-US" sz="3200" dirty="0"/>
              <a:t>The system should ensure data privacy and integrity.</a:t>
            </a:r>
          </a:p>
          <a:p>
            <a:pPr lvl="2"/>
            <a:r>
              <a:rPr lang="en-US" sz="3200" dirty="0"/>
              <a:t>The system should be scalable for future enhancements</a:t>
            </a:r>
            <a:r>
              <a:rPr lang="en-US" sz="3200" dirty="0" smtClean="0"/>
              <a:t>.</a:t>
            </a:r>
            <a:endParaRPr lang="en-US" sz="3200" dirty="0"/>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8</a:t>
            </a:r>
          </a:p>
        </p:txBody>
      </p:sp>
      <p:sp>
        <p:nvSpPr>
          <p:cNvPr id="10" name="TextBox 9"/>
          <p:cNvSpPr txBox="1"/>
          <p:nvPr/>
        </p:nvSpPr>
        <p:spPr>
          <a:xfrm>
            <a:off x="1867578" y="2804046"/>
            <a:ext cx="11963400" cy="646331"/>
          </a:xfrm>
          <a:prstGeom prst="rect">
            <a:avLst/>
          </a:prstGeom>
          <a:noFill/>
        </p:spPr>
        <p:txBody>
          <a:bodyPr wrap="square" rtlCol="0">
            <a:spAutoFit/>
          </a:bodyPr>
          <a:lstStyle/>
          <a:p>
            <a:pPr lvl="0" eaLnBrk="0" fontAlgn="base" hangingPunct="0">
              <a:spcBef>
                <a:spcPct val="0"/>
              </a:spcBef>
              <a:spcAft>
                <a:spcPct val="0"/>
              </a:spcAft>
            </a:pPr>
            <a:endParaRPr lang="en-US"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4488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166399" y="1233825"/>
            <a:ext cx="10399168"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Software Requirements</a:t>
            </a:r>
            <a:endParaRPr lang="en-US" sz="6399" dirty="0">
              <a:solidFill>
                <a:srgbClr val="000000"/>
              </a:solidFill>
              <a:latin typeface="DM Serif Display"/>
              <a:ea typeface="DM Serif Display"/>
              <a:cs typeface="DM Serif Display"/>
              <a:sym typeface="DM Serif Display"/>
            </a:endParaRP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9</a:t>
            </a:r>
          </a:p>
        </p:txBody>
      </p:sp>
      <p:sp>
        <p:nvSpPr>
          <p:cNvPr id="16" name="TextBox 15"/>
          <p:cNvSpPr txBox="1"/>
          <p:nvPr/>
        </p:nvSpPr>
        <p:spPr>
          <a:xfrm>
            <a:off x="2133600" y="3619500"/>
            <a:ext cx="11537525" cy="2308324"/>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Programming Language: Python</a:t>
            </a:r>
          </a:p>
          <a:p>
            <a:r>
              <a:rPr lang="en-IN" sz="3600" dirty="0">
                <a:latin typeface="Times New Roman" panose="02020603050405020304" pitchFamily="18" charset="0"/>
                <a:cs typeface="Times New Roman" panose="02020603050405020304" pitchFamily="18" charset="0"/>
              </a:rPr>
              <a:t>• Libraries: </a:t>
            </a:r>
            <a:r>
              <a:rPr lang="en-IN" sz="3600" dirty="0" err="1">
                <a:latin typeface="Times New Roman" panose="02020603050405020304" pitchFamily="18" charset="0"/>
                <a:cs typeface="Times New Roman" panose="02020603050405020304" pitchFamily="18" charset="0"/>
              </a:rPr>
              <a:t>OpenCV</a:t>
            </a:r>
            <a:r>
              <a:rPr lang="en-IN" sz="3600" dirty="0">
                <a:latin typeface="Times New Roman" panose="02020603050405020304" pitchFamily="18" charset="0"/>
                <a:cs typeface="Times New Roman" panose="02020603050405020304" pitchFamily="18" charset="0"/>
              </a:rPr>
              <a:t>, </a:t>
            </a:r>
            <a:r>
              <a:rPr lang="en-IN" sz="3600" dirty="0" err="1">
                <a:latin typeface="Times New Roman" panose="02020603050405020304" pitchFamily="18" charset="0"/>
                <a:cs typeface="Times New Roman" panose="02020603050405020304" pitchFamily="18" charset="0"/>
              </a:rPr>
              <a:t>NumPy</a:t>
            </a:r>
            <a:r>
              <a:rPr lang="en-IN" sz="3600" dirty="0">
                <a:latin typeface="Times New Roman" panose="02020603050405020304" pitchFamily="18" charset="0"/>
                <a:cs typeface="Times New Roman" panose="02020603050405020304" pitchFamily="18" charset="0"/>
              </a:rPr>
              <a:t>, </a:t>
            </a:r>
            <a:r>
              <a:rPr lang="en-IN" sz="3600" dirty="0" err="1">
                <a:latin typeface="Times New Roman" panose="02020603050405020304" pitchFamily="18" charset="0"/>
                <a:cs typeface="Times New Roman" panose="02020603050405020304" pitchFamily="18" charset="0"/>
              </a:rPr>
              <a:t>Matplotlib</a:t>
            </a:r>
            <a:r>
              <a:rPr lang="en-IN" sz="3600" dirty="0">
                <a:latin typeface="Times New Roman" panose="02020603050405020304" pitchFamily="18" charset="0"/>
                <a:cs typeface="Times New Roman" panose="02020603050405020304" pitchFamily="18" charset="0"/>
              </a:rPr>
              <a:t>, </a:t>
            </a:r>
            <a:r>
              <a:rPr lang="en-IN" sz="3600" dirty="0" err="1">
                <a:latin typeface="Times New Roman" panose="02020603050405020304" pitchFamily="18" charset="0"/>
                <a:cs typeface="Times New Roman" panose="02020603050405020304" pitchFamily="18" charset="0"/>
              </a:rPr>
              <a:t>Tkinter</a:t>
            </a:r>
            <a:endParaRPr lang="en-IN"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 Database: MySQL or SQLite</a:t>
            </a:r>
          </a:p>
          <a:p>
            <a:r>
              <a:rPr lang="en-IN" sz="3600" dirty="0">
                <a:latin typeface="Times New Roman" panose="02020603050405020304" pitchFamily="18" charset="0"/>
                <a:cs typeface="Times New Roman" panose="02020603050405020304" pitchFamily="18" charset="0"/>
              </a:rPr>
              <a:t>• IDE: </a:t>
            </a:r>
            <a:r>
              <a:rPr lang="en-IN" sz="3600" dirty="0" err="1">
                <a:latin typeface="Times New Roman" panose="02020603050405020304" pitchFamily="18" charset="0"/>
                <a:cs typeface="Times New Roman" panose="02020603050405020304" pitchFamily="18" charset="0"/>
              </a:rPr>
              <a:t>Jupyter</a:t>
            </a:r>
            <a:r>
              <a:rPr lang="en-IN" sz="3600" dirty="0">
                <a:latin typeface="Times New Roman" panose="02020603050405020304" pitchFamily="18" charset="0"/>
                <a:cs typeface="Times New Roman" panose="02020603050405020304" pitchFamily="18" charset="0"/>
              </a:rPr>
              <a:t> Notebook / Visual Studio </a:t>
            </a:r>
            <a:r>
              <a:rPr lang="en-IN" sz="3600" dirty="0" smtClean="0">
                <a:latin typeface="Times New Roman" panose="02020603050405020304" pitchFamily="18" charset="0"/>
                <a:cs typeface="Times New Roman" panose="02020603050405020304" pitchFamily="18" charset="0"/>
              </a:rPr>
              <a:t>Code</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33825"/>
            <a:ext cx="10399168"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Hardware Requirements</a:t>
            </a:r>
            <a:endParaRPr lang="en-US" sz="6399" dirty="0">
              <a:solidFill>
                <a:srgbClr val="000000"/>
              </a:solidFill>
              <a:latin typeface="DM Serif Display"/>
              <a:ea typeface="DM Serif Display"/>
              <a:cs typeface="DM Serif Display"/>
              <a:sym typeface="DM Serif Display"/>
            </a:endParaRP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10</a:t>
            </a:r>
          </a:p>
        </p:txBody>
      </p:sp>
      <p:sp>
        <p:nvSpPr>
          <p:cNvPr id="21" name="TextBox 20"/>
          <p:cNvSpPr txBox="1"/>
          <p:nvPr/>
        </p:nvSpPr>
        <p:spPr>
          <a:xfrm>
            <a:off x="2362200" y="3009900"/>
            <a:ext cx="9525000" cy="2862322"/>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Hardware Requirements:</a:t>
            </a:r>
          </a:p>
          <a:p>
            <a:r>
              <a:rPr lang="en-US" sz="3600" dirty="0">
                <a:latin typeface="Times New Roman" panose="02020603050405020304" pitchFamily="18" charset="0"/>
                <a:cs typeface="Times New Roman" panose="02020603050405020304" pitchFamily="18" charset="0"/>
              </a:rPr>
              <a:t>• System: Intel i5 Processor or above</a:t>
            </a:r>
          </a:p>
          <a:p>
            <a:r>
              <a:rPr lang="en-US" sz="3600" dirty="0">
                <a:latin typeface="Times New Roman" panose="02020603050405020304" pitchFamily="18" charset="0"/>
                <a:cs typeface="Times New Roman" panose="02020603050405020304" pitchFamily="18" charset="0"/>
              </a:rPr>
              <a:t>• RAM: Minimum 4 GB</a:t>
            </a:r>
          </a:p>
          <a:p>
            <a:r>
              <a:rPr lang="en-US" sz="3600" dirty="0">
                <a:latin typeface="Times New Roman" panose="02020603050405020304" pitchFamily="18" charset="0"/>
                <a:cs typeface="Times New Roman" panose="02020603050405020304" pitchFamily="18" charset="0"/>
              </a:rPr>
              <a:t>• Webcam or external camera for gesture detection</a:t>
            </a:r>
          </a:p>
          <a:p>
            <a:r>
              <a:rPr lang="en-US" sz="3600" dirty="0">
                <a:latin typeface="Times New Roman" panose="02020603050405020304" pitchFamily="18" charset="0"/>
                <a:cs typeface="Times New Roman" panose="02020603050405020304" pitchFamily="18" charset="0"/>
              </a:rPr>
              <a:t>• Storage: Minimum 500 MB free </a:t>
            </a:r>
            <a:r>
              <a:rPr lang="en-US" sz="3600" dirty="0" smtClean="0">
                <a:latin typeface="Times New Roman" panose="02020603050405020304" pitchFamily="18" charset="0"/>
                <a:cs typeface="Times New Roman" panose="02020603050405020304" pitchFamily="18" charset="0"/>
              </a:rPr>
              <a:t>space</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143000" y="1028700"/>
            <a:ext cx="76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1177636" y="1181100"/>
            <a:ext cx="6019800" cy="1015663"/>
          </a:xfrm>
          <a:prstGeom prst="rect">
            <a:avLst/>
          </a:prstGeom>
          <a:noFill/>
        </p:spPr>
        <p:txBody>
          <a:bodyPr wrap="square" rtlCol="0">
            <a:spAutoFit/>
          </a:bodyPr>
          <a:lstStyle/>
          <a:p>
            <a:r>
              <a:rPr lang="en-US" sz="6000" dirty="0" smtClean="0">
                <a:latin typeface="DM Serif Display" panose="020B0604020202020204" charset="0"/>
              </a:rPr>
              <a:t>Conclusion</a:t>
            </a:r>
            <a:endParaRPr lang="en-IN" dirty="0">
              <a:latin typeface="DM Serif Display" panose="020B0604020202020204" charset="0"/>
            </a:endParaRPr>
          </a:p>
        </p:txBody>
      </p:sp>
      <p:sp>
        <p:nvSpPr>
          <p:cNvPr id="7" name="TextBox 6"/>
          <p:cNvSpPr txBox="1"/>
          <p:nvPr/>
        </p:nvSpPr>
        <p:spPr>
          <a:xfrm>
            <a:off x="1676400" y="3086100"/>
            <a:ext cx="14859000" cy="4524315"/>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The proposed system successfully combines </a:t>
            </a:r>
            <a:r>
              <a:rPr lang="en-US" sz="3600" b="1" dirty="0">
                <a:latin typeface="Times New Roman" panose="02020603050405020304" pitchFamily="18" charset="0"/>
                <a:cs typeface="Times New Roman" panose="02020603050405020304" pitchFamily="18" charset="0"/>
              </a:rPr>
              <a:t>gesture recognition</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steganography</a:t>
            </a:r>
            <a:r>
              <a:rPr lang="en-US" sz="3600" dirty="0">
                <a:latin typeface="Times New Roman" panose="02020603050405020304" pitchFamily="18" charset="0"/>
                <a:cs typeface="Times New Roman" panose="02020603050405020304" pitchFamily="18" charset="0"/>
              </a:rPr>
              <a:t> to create a </a:t>
            </a:r>
            <a:r>
              <a:rPr lang="en-US" sz="3600" b="1" dirty="0">
                <a:latin typeface="Times New Roman" panose="02020603050405020304" pitchFamily="18" charset="0"/>
                <a:cs typeface="Times New Roman" panose="02020603050405020304" pitchFamily="18" charset="0"/>
              </a:rPr>
              <a:t>secure and innovative communication platform</a:t>
            </a:r>
            <a:r>
              <a:rPr lang="en-US" sz="3600" dirty="0">
                <a:latin typeface="Times New Roman" panose="02020603050405020304" pitchFamily="18" charset="0"/>
                <a:cs typeface="Times New Roman" panose="02020603050405020304" pitchFamily="18" charset="0"/>
              </a:rPr>
              <a:t>. By using </a:t>
            </a:r>
            <a:r>
              <a:rPr lang="en-US" sz="3600" b="1" dirty="0">
                <a:latin typeface="Times New Roman" panose="02020603050405020304" pitchFamily="18" charset="0"/>
                <a:cs typeface="Times New Roman" panose="02020603050405020304" pitchFamily="18" charset="0"/>
              </a:rPr>
              <a:t>hand gestures</a:t>
            </a:r>
            <a:r>
              <a:rPr lang="en-US" sz="3600" dirty="0">
                <a:latin typeface="Times New Roman" panose="02020603050405020304" pitchFamily="18" charset="0"/>
                <a:cs typeface="Times New Roman" panose="02020603050405020304" pitchFamily="18" charset="0"/>
              </a:rPr>
              <a:t> for authentication and </a:t>
            </a:r>
            <a:r>
              <a:rPr lang="en-US" sz="3600" b="1" dirty="0">
                <a:latin typeface="Times New Roman" panose="02020603050405020304" pitchFamily="18" charset="0"/>
                <a:cs typeface="Times New Roman" panose="02020603050405020304" pitchFamily="18" charset="0"/>
              </a:rPr>
              <a:t>data hiding</a:t>
            </a:r>
            <a:r>
              <a:rPr lang="en-US" sz="3600" dirty="0">
                <a:latin typeface="Times New Roman" panose="02020603050405020304" pitchFamily="18" charset="0"/>
                <a:cs typeface="Times New Roman" panose="02020603050405020304" pitchFamily="18" charset="0"/>
              </a:rPr>
              <a:t> within media files, it ensures a </a:t>
            </a:r>
            <a:r>
              <a:rPr lang="en-US" sz="3600" b="1" dirty="0">
                <a:latin typeface="Times New Roman" panose="02020603050405020304" pitchFamily="18" charset="0"/>
                <a:cs typeface="Times New Roman" panose="02020603050405020304" pitchFamily="18" charset="0"/>
              </a:rPr>
              <a:t>dual-layer protection mechanism</a:t>
            </a:r>
            <a:r>
              <a:rPr lang="en-US" sz="3600" dirty="0">
                <a:latin typeface="Times New Roman" panose="02020603050405020304" pitchFamily="18" charset="0"/>
                <a:cs typeface="Times New Roman" panose="02020603050405020304" pitchFamily="18" charset="0"/>
              </a:rPr>
              <a:t> that enhances both </a:t>
            </a:r>
            <a:r>
              <a:rPr lang="en-US" sz="3600" b="1" dirty="0">
                <a:latin typeface="Times New Roman" panose="02020603050405020304" pitchFamily="18" charset="0"/>
                <a:cs typeface="Times New Roman" panose="02020603050405020304" pitchFamily="18" charset="0"/>
              </a:rPr>
              <a:t>privacy and usability</a:t>
            </a:r>
            <a:r>
              <a:rPr lang="en-US" sz="3600" dirty="0">
                <a:latin typeface="Times New Roman" panose="02020603050405020304" pitchFamily="18" charset="0"/>
                <a:cs typeface="Times New Roman" panose="02020603050405020304" pitchFamily="18" charset="0"/>
              </a:rPr>
              <a:t>. This approach not only prevents unauthorized access but also makes communication </a:t>
            </a:r>
            <a:r>
              <a:rPr lang="en-US" sz="3600" b="1" dirty="0">
                <a:latin typeface="Times New Roman" panose="02020603050405020304" pitchFamily="18" charset="0"/>
                <a:cs typeface="Times New Roman" panose="02020603050405020304" pitchFamily="18" charset="0"/>
              </a:rPr>
              <a:t>contactless, intelligent, and efficient</a:t>
            </a:r>
            <a:r>
              <a:rPr lang="en-US" sz="3600" dirty="0">
                <a:latin typeface="Times New Roman" panose="02020603050405020304" pitchFamily="18" charset="0"/>
                <a:cs typeface="Times New Roman" panose="02020603050405020304" pitchFamily="18" charset="0"/>
              </a:rPr>
              <a:t>. Overall, it provides a </a:t>
            </a:r>
            <a:r>
              <a:rPr lang="en-US" sz="3600" b="1" dirty="0">
                <a:latin typeface="Times New Roman" panose="02020603050405020304" pitchFamily="18" charset="0"/>
                <a:cs typeface="Times New Roman" panose="02020603050405020304" pitchFamily="18" charset="0"/>
              </a:rPr>
              <a:t>modern, user-friendly, and robust solution</a:t>
            </a:r>
            <a:r>
              <a:rPr lang="en-US" sz="3600" dirty="0">
                <a:latin typeface="Times New Roman" panose="02020603050405020304" pitchFamily="18" charset="0"/>
                <a:cs typeface="Times New Roman" panose="02020603050405020304" pitchFamily="18" charset="0"/>
              </a:rPr>
              <a:t> for secure data transmission in today’s digital world.</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6224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4485814" y="2762204"/>
            <a:ext cx="9316373" cy="2453640"/>
          </a:xfrm>
          <a:prstGeom prst="rect">
            <a:avLst/>
          </a:prstGeom>
        </p:spPr>
        <p:txBody>
          <a:bodyPr lIns="0" tIns="0" rIns="0" bIns="0" rtlCol="0" anchor="t">
            <a:spAutoFit/>
          </a:bodyPr>
          <a:lstStyle/>
          <a:p>
            <a:pPr algn="ctr">
              <a:lnSpc>
                <a:spcPts val="20160"/>
              </a:lnSpc>
            </a:pPr>
            <a:r>
              <a:rPr lang="en-US" sz="14400">
                <a:solidFill>
                  <a:srgbClr val="000000"/>
                </a:solidFill>
                <a:latin typeface="DM Serif Display"/>
                <a:ea typeface="DM Serif Display"/>
                <a:cs typeface="DM Serif Display"/>
                <a:sym typeface="DM Serif Display"/>
              </a:rPr>
              <a:t>The End</a:t>
            </a:r>
          </a:p>
        </p:txBody>
      </p:sp>
      <p:sp>
        <p:nvSpPr>
          <p:cNvPr id="4" name="TextBox 4"/>
          <p:cNvSpPr txBox="1"/>
          <p:nvPr/>
        </p:nvSpPr>
        <p:spPr>
          <a:xfrm>
            <a:off x="4180543" y="5328331"/>
            <a:ext cx="9926914"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THANK YOU FOR LISTENING</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409</TotalTime>
  <Words>840</Words>
  <Application>Microsoft Office PowerPoint</Application>
  <PresentationFormat>Custom</PresentationFormat>
  <Paragraphs>120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Times New Roman</vt:lpstr>
      <vt:lpstr>Arial</vt:lpstr>
      <vt:lpstr>Century Gothic</vt:lpstr>
      <vt:lpstr>DM Serif Display</vt:lpstr>
      <vt:lpstr>Open Sauce</vt:lpstr>
      <vt:lpstr>Calibri</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KRISHNA</dc:creator>
  <cp:lastModifiedBy>DELL</cp:lastModifiedBy>
  <cp:revision>21</cp:revision>
  <dcterms:created xsi:type="dcterms:W3CDTF">2006-08-16T00:00:00Z</dcterms:created>
  <dcterms:modified xsi:type="dcterms:W3CDTF">2026-01-29T16:53:09Z</dcterms:modified>
  <dc:identifier>DAG2_UvGkzQ</dc:identifier>
</cp:coreProperties>
</file>